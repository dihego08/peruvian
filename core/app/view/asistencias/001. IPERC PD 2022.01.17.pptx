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6" r:id="rId2"/>
    <p:sldId id="280" r:id="rId3"/>
    <p:sldId id="266" r:id="rId4"/>
    <p:sldId id="320" r:id="rId5"/>
    <p:sldId id="321" r:id="rId6"/>
    <p:sldId id="322" r:id="rId7"/>
    <p:sldId id="317" r:id="rId8"/>
    <p:sldId id="318" r:id="rId9"/>
    <p:sldId id="289" r:id="rId10"/>
    <p:sldId id="262" r:id="rId11"/>
    <p:sldId id="290" r:id="rId12"/>
    <p:sldId id="291" r:id="rId13"/>
    <p:sldId id="292" r:id="rId14"/>
    <p:sldId id="294" r:id="rId15"/>
    <p:sldId id="295" r:id="rId16"/>
    <p:sldId id="296" r:id="rId17"/>
    <p:sldId id="293" r:id="rId18"/>
    <p:sldId id="297" r:id="rId19"/>
    <p:sldId id="298" r:id="rId20"/>
    <p:sldId id="304" r:id="rId21"/>
    <p:sldId id="305" r:id="rId22"/>
    <p:sldId id="306" r:id="rId23"/>
    <p:sldId id="314" r:id="rId24"/>
    <p:sldId id="302" r:id="rId25"/>
    <p:sldId id="301" r:id="rId26"/>
    <p:sldId id="323" r:id="rId27"/>
    <p:sldId id="315" r:id="rId28"/>
    <p:sldId id="316" r:id="rId29"/>
  </p:sldIdLst>
  <p:sldSz cx="9144000" cy="6858000" type="screen4x3"/>
  <p:notesSz cx="7315200" cy="96012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4" autoAdjust="0"/>
    <p:restoredTop sz="94849" autoAdjust="0"/>
  </p:normalViewPr>
  <p:slideViewPr>
    <p:cSldViewPr>
      <p:cViewPr varScale="1">
        <p:scale>
          <a:sx n="87" d="100"/>
          <a:sy n="87" d="100"/>
        </p:scale>
        <p:origin x="163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B8812E-F38D-4F49-995D-C51AEB2C73E7}" type="doc">
      <dgm:prSet loTypeId="urn:microsoft.com/office/officeart/2005/8/layout/chevron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PE"/>
        </a:p>
      </dgm:t>
    </dgm:pt>
    <dgm:pt modelId="{554B660A-FD93-4854-952C-80FB9F51B9FE}">
      <dgm:prSet phldrT="[Texto]"/>
      <dgm:spPr/>
      <dgm:t>
        <a:bodyPr/>
        <a:lstStyle/>
        <a:p>
          <a:r>
            <a:rPr lang="es-PE" b="1" dirty="0" smtClean="0"/>
            <a:t>Identificación de Peligros: </a:t>
          </a:r>
          <a:endParaRPr lang="es-PE" dirty="0"/>
        </a:p>
      </dgm:t>
    </dgm:pt>
    <dgm:pt modelId="{9BB34C6E-1981-45EE-8168-36FE42139BFA}" type="parTrans" cxnId="{B50B1874-6468-47A9-AA42-25C0F55F1CB9}">
      <dgm:prSet/>
      <dgm:spPr/>
      <dgm:t>
        <a:bodyPr/>
        <a:lstStyle/>
        <a:p>
          <a:endParaRPr lang="es-PE"/>
        </a:p>
      </dgm:t>
    </dgm:pt>
    <dgm:pt modelId="{0CE89C8A-F289-41AD-9193-1E533AFBD53E}" type="sibTrans" cxnId="{B50B1874-6468-47A9-AA42-25C0F55F1CB9}">
      <dgm:prSet/>
      <dgm:spPr/>
      <dgm:t>
        <a:bodyPr/>
        <a:lstStyle/>
        <a:p>
          <a:endParaRPr lang="es-PE"/>
        </a:p>
      </dgm:t>
    </dgm:pt>
    <dgm:pt modelId="{7985E0B7-26A1-44DA-AB6C-408CED94BAE1}">
      <dgm:prSet phldrT="[Texto]"/>
      <dgm:spPr/>
      <dgm:t>
        <a:bodyPr/>
        <a:lstStyle/>
        <a:p>
          <a:r>
            <a:rPr lang="es-PE" dirty="0" smtClean="0"/>
            <a:t>Proceso mediante el cual se localiza y reconoce que existe un peligro y se definen sus características </a:t>
          </a:r>
          <a:endParaRPr lang="es-PE" dirty="0"/>
        </a:p>
      </dgm:t>
    </dgm:pt>
    <dgm:pt modelId="{8FA9B249-4040-4D4E-A6E7-2EB5587AA7AE}" type="parTrans" cxnId="{021FA00E-5D0B-44F6-A8B5-0964522444D9}">
      <dgm:prSet/>
      <dgm:spPr/>
      <dgm:t>
        <a:bodyPr/>
        <a:lstStyle/>
        <a:p>
          <a:endParaRPr lang="es-PE"/>
        </a:p>
      </dgm:t>
    </dgm:pt>
    <dgm:pt modelId="{A5F49206-F2BF-45AD-AC4A-F9B8C6EF35F0}" type="sibTrans" cxnId="{021FA00E-5D0B-44F6-A8B5-0964522444D9}">
      <dgm:prSet/>
      <dgm:spPr/>
      <dgm:t>
        <a:bodyPr/>
        <a:lstStyle/>
        <a:p>
          <a:endParaRPr lang="es-PE"/>
        </a:p>
      </dgm:t>
    </dgm:pt>
    <dgm:pt modelId="{15D82E7F-130A-432E-8F21-F4B717B91372}">
      <dgm:prSet phldrT="[Texto]"/>
      <dgm:spPr/>
      <dgm:t>
        <a:bodyPr/>
        <a:lstStyle/>
        <a:p>
          <a:r>
            <a:rPr lang="es-PE" b="1" dirty="0" smtClean="0"/>
            <a:t>Evaluación de riesgos: </a:t>
          </a:r>
          <a:endParaRPr lang="es-PE" dirty="0"/>
        </a:p>
      </dgm:t>
    </dgm:pt>
    <dgm:pt modelId="{CD033753-4267-45FF-B0AA-604A05208F16}" type="parTrans" cxnId="{A3B0874C-3D55-4E3F-B4D8-0E4900C83991}">
      <dgm:prSet/>
      <dgm:spPr/>
      <dgm:t>
        <a:bodyPr/>
        <a:lstStyle/>
        <a:p>
          <a:endParaRPr lang="es-PE"/>
        </a:p>
      </dgm:t>
    </dgm:pt>
    <dgm:pt modelId="{114D9538-6C33-4F6F-A37C-85130F2FB163}" type="sibTrans" cxnId="{A3B0874C-3D55-4E3F-B4D8-0E4900C83991}">
      <dgm:prSet/>
      <dgm:spPr/>
      <dgm:t>
        <a:bodyPr/>
        <a:lstStyle/>
        <a:p>
          <a:endParaRPr lang="es-PE"/>
        </a:p>
      </dgm:t>
    </dgm:pt>
    <dgm:pt modelId="{4BCF5F4A-F594-4BFC-A51D-A326E7B104FF}">
      <dgm:prSet phldrT="[Texto]"/>
      <dgm:spPr/>
      <dgm:t>
        <a:bodyPr/>
        <a:lstStyle/>
        <a:p>
          <a:r>
            <a:rPr lang="es-PE" dirty="0" smtClean="0"/>
            <a:t>Es el proceso posterior a la identificación de los peligros, que permite valorar el nivel, grado y gravedad de los mismos proporcionando la información necesaria para que el empleador se encuentre en condiciones de tomar una decisión apropiada sobre la oportunidad, prioridad y tipo de acciones preventivas que debe adoptar.</a:t>
          </a:r>
          <a:endParaRPr lang="es-PE" dirty="0"/>
        </a:p>
      </dgm:t>
    </dgm:pt>
    <dgm:pt modelId="{D7C1182D-65BB-468E-A5B6-3324C1FFC87F}" type="parTrans" cxnId="{7CB647AE-B52A-40A0-8268-E1EE3CB666BD}">
      <dgm:prSet/>
      <dgm:spPr/>
      <dgm:t>
        <a:bodyPr/>
        <a:lstStyle/>
        <a:p>
          <a:endParaRPr lang="es-PE"/>
        </a:p>
      </dgm:t>
    </dgm:pt>
    <dgm:pt modelId="{722861E4-5E38-476A-BECF-34A15FC3C4B3}" type="sibTrans" cxnId="{7CB647AE-B52A-40A0-8268-E1EE3CB666BD}">
      <dgm:prSet/>
      <dgm:spPr/>
      <dgm:t>
        <a:bodyPr/>
        <a:lstStyle/>
        <a:p>
          <a:endParaRPr lang="es-PE"/>
        </a:p>
      </dgm:t>
    </dgm:pt>
    <dgm:pt modelId="{C31151AE-E396-4411-BEA8-7A17EA6DA454}">
      <dgm:prSet phldrT="[Texto]"/>
      <dgm:spPr/>
      <dgm:t>
        <a:bodyPr/>
        <a:lstStyle/>
        <a:p>
          <a:r>
            <a:rPr lang="es-PE" b="1" dirty="0" smtClean="0"/>
            <a:t>Control de riesgos: </a:t>
          </a:r>
          <a:endParaRPr lang="es-PE" dirty="0"/>
        </a:p>
      </dgm:t>
    </dgm:pt>
    <dgm:pt modelId="{FE2316AF-2386-4A18-89A9-17191A9A0FC6}" type="parTrans" cxnId="{346DB5BC-2D89-4A16-9D2F-2DA637340A24}">
      <dgm:prSet/>
      <dgm:spPr/>
      <dgm:t>
        <a:bodyPr/>
        <a:lstStyle/>
        <a:p>
          <a:endParaRPr lang="es-PE"/>
        </a:p>
      </dgm:t>
    </dgm:pt>
    <dgm:pt modelId="{7A99CDA9-FA29-44C8-BD38-BF687685CBF1}" type="sibTrans" cxnId="{346DB5BC-2D89-4A16-9D2F-2DA637340A24}">
      <dgm:prSet/>
      <dgm:spPr/>
      <dgm:t>
        <a:bodyPr/>
        <a:lstStyle/>
        <a:p>
          <a:endParaRPr lang="es-PE"/>
        </a:p>
      </dgm:t>
    </dgm:pt>
    <dgm:pt modelId="{632E10D5-EE2D-4F9C-964E-AEBEBB694A69}">
      <dgm:prSet phldrT="[Texto]"/>
      <dgm:spPr/>
      <dgm:t>
        <a:bodyPr/>
        <a:lstStyle/>
        <a:p>
          <a:r>
            <a:rPr lang="es-PE" dirty="0" smtClean="0"/>
            <a:t>Es el proceso de toma de decisiones basadas en la información obtenida en la evaluación de riesgos. Se orienta a reducir los riesgos a través de la propuesta de medidas correctivas, la exigencia de su cumplimiento y la evaluación periódica de su eficacia.</a:t>
          </a:r>
          <a:endParaRPr lang="es-PE" dirty="0"/>
        </a:p>
      </dgm:t>
    </dgm:pt>
    <dgm:pt modelId="{C0525A67-D719-4955-899C-FE8E65D34806}" type="parTrans" cxnId="{D2ACF4AA-CB30-4CFD-81F2-4C016FD5B778}">
      <dgm:prSet/>
      <dgm:spPr/>
      <dgm:t>
        <a:bodyPr/>
        <a:lstStyle/>
        <a:p>
          <a:endParaRPr lang="es-PE"/>
        </a:p>
      </dgm:t>
    </dgm:pt>
    <dgm:pt modelId="{F7753DC4-F11F-46A0-8000-01C3F5288560}" type="sibTrans" cxnId="{D2ACF4AA-CB30-4CFD-81F2-4C016FD5B778}">
      <dgm:prSet/>
      <dgm:spPr/>
      <dgm:t>
        <a:bodyPr/>
        <a:lstStyle/>
        <a:p>
          <a:endParaRPr lang="es-PE"/>
        </a:p>
      </dgm:t>
    </dgm:pt>
    <dgm:pt modelId="{22E7CE58-D69B-4CAF-A625-151026B527BB}" type="pres">
      <dgm:prSet presAssocID="{2EB8812E-F38D-4F49-995D-C51AEB2C73E7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085A2750-346E-47A2-8339-4EECEF8F5145}" type="pres">
      <dgm:prSet presAssocID="{554B660A-FD93-4854-952C-80FB9F51B9FE}" presName="composite" presStyleCnt="0"/>
      <dgm:spPr/>
    </dgm:pt>
    <dgm:pt modelId="{9D27C05F-9A29-4809-8BFC-01207349813C}" type="pres">
      <dgm:prSet presAssocID="{554B660A-FD93-4854-952C-80FB9F51B9FE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F61324D0-BE65-440F-8EE4-9A1BF0D61643}" type="pres">
      <dgm:prSet presAssocID="{554B660A-FD93-4854-952C-80FB9F51B9FE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A1B5C44F-5246-4BC0-9E8A-3ABAD91594A3}" type="pres">
      <dgm:prSet presAssocID="{0CE89C8A-F289-41AD-9193-1E533AFBD53E}" presName="sp" presStyleCnt="0"/>
      <dgm:spPr/>
    </dgm:pt>
    <dgm:pt modelId="{194B76E3-A3D8-43B8-80A4-D7EF2F0CD379}" type="pres">
      <dgm:prSet presAssocID="{15D82E7F-130A-432E-8F21-F4B717B91372}" presName="composite" presStyleCnt="0"/>
      <dgm:spPr/>
    </dgm:pt>
    <dgm:pt modelId="{837AF1DB-B72F-47EE-8744-4546FD232E94}" type="pres">
      <dgm:prSet presAssocID="{15D82E7F-130A-432E-8F21-F4B717B91372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98D64EA-CF0C-4565-A18B-98A3CAB5907D}" type="pres">
      <dgm:prSet presAssocID="{15D82E7F-130A-432E-8F21-F4B717B91372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E7E8BB75-CE24-48C1-BEC0-45445DDD4205}" type="pres">
      <dgm:prSet presAssocID="{114D9538-6C33-4F6F-A37C-85130F2FB163}" presName="sp" presStyleCnt="0"/>
      <dgm:spPr/>
    </dgm:pt>
    <dgm:pt modelId="{2F67BA04-13BD-4526-AD57-0B437B6FAD16}" type="pres">
      <dgm:prSet presAssocID="{C31151AE-E396-4411-BEA8-7A17EA6DA454}" presName="composite" presStyleCnt="0"/>
      <dgm:spPr/>
    </dgm:pt>
    <dgm:pt modelId="{6CD1B6BB-532E-4D38-9690-84F889261C0A}" type="pres">
      <dgm:prSet presAssocID="{C31151AE-E396-4411-BEA8-7A17EA6DA454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530E57C5-2A3F-421C-8C66-8E1775A2BD78}" type="pres">
      <dgm:prSet presAssocID="{C31151AE-E396-4411-BEA8-7A17EA6DA454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3EB9F4F8-A342-4866-AB1E-691C41917074}" type="presOf" srcId="{632E10D5-EE2D-4F9C-964E-AEBEBB694A69}" destId="{530E57C5-2A3F-421C-8C66-8E1775A2BD78}" srcOrd="0" destOrd="0" presId="urn:microsoft.com/office/officeart/2005/8/layout/chevron2"/>
    <dgm:cxn modelId="{4BC9CD00-B5AF-4387-A9B8-BD6178375E89}" type="presOf" srcId="{4BCF5F4A-F594-4BFC-A51D-A326E7B104FF}" destId="{B98D64EA-CF0C-4565-A18B-98A3CAB5907D}" srcOrd="0" destOrd="0" presId="urn:microsoft.com/office/officeart/2005/8/layout/chevron2"/>
    <dgm:cxn modelId="{021FA00E-5D0B-44F6-A8B5-0964522444D9}" srcId="{554B660A-FD93-4854-952C-80FB9F51B9FE}" destId="{7985E0B7-26A1-44DA-AB6C-408CED94BAE1}" srcOrd="0" destOrd="0" parTransId="{8FA9B249-4040-4D4E-A6E7-2EB5587AA7AE}" sibTransId="{A5F49206-F2BF-45AD-AC4A-F9B8C6EF35F0}"/>
    <dgm:cxn modelId="{346DB5BC-2D89-4A16-9D2F-2DA637340A24}" srcId="{2EB8812E-F38D-4F49-995D-C51AEB2C73E7}" destId="{C31151AE-E396-4411-BEA8-7A17EA6DA454}" srcOrd="2" destOrd="0" parTransId="{FE2316AF-2386-4A18-89A9-17191A9A0FC6}" sibTransId="{7A99CDA9-FA29-44C8-BD38-BF687685CBF1}"/>
    <dgm:cxn modelId="{3D8E82CB-BB22-4541-806A-07BD9D3E5B29}" type="presOf" srcId="{554B660A-FD93-4854-952C-80FB9F51B9FE}" destId="{9D27C05F-9A29-4809-8BFC-01207349813C}" srcOrd="0" destOrd="0" presId="urn:microsoft.com/office/officeart/2005/8/layout/chevron2"/>
    <dgm:cxn modelId="{D2ACF4AA-CB30-4CFD-81F2-4C016FD5B778}" srcId="{C31151AE-E396-4411-BEA8-7A17EA6DA454}" destId="{632E10D5-EE2D-4F9C-964E-AEBEBB694A69}" srcOrd="0" destOrd="0" parTransId="{C0525A67-D719-4955-899C-FE8E65D34806}" sibTransId="{F7753DC4-F11F-46A0-8000-01C3F5288560}"/>
    <dgm:cxn modelId="{CFE3E71D-2339-48CF-8364-9A28AF23BB45}" type="presOf" srcId="{7985E0B7-26A1-44DA-AB6C-408CED94BAE1}" destId="{F61324D0-BE65-440F-8EE4-9A1BF0D61643}" srcOrd="0" destOrd="0" presId="urn:microsoft.com/office/officeart/2005/8/layout/chevron2"/>
    <dgm:cxn modelId="{A3B0874C-3D55-4E3F-B4D8-0E4900C83991}" srcId="{2EB8812E-F38D-4F49-995D-C51AEB2C73E7}" destId="{15D82E7F-130A-432E-8F21-F4B717B91372}" srcOrd="1" destOrd="0" parTransId="{CD033753-4267-45FF-B0AA-604A05208F16}" sibTransId="{114D9538-6C33-4F6F-A37C-85130F2FB163}"/>
    <dgm:cxn modelId="{7CB647AE-B52A-40A0-8268-E1EE3CB666BD}" srcId="{15D82E7F-130A-432E-8F21-F4B717B91372}" destId="{4BCF5F4A-F594-4BFC-A51D-A326E7B104FF}" srcOrd="0" destOrd="0" parTransId="{D7C1182D-65BB-468E-A5B6-3324C1FFC87F}" sibTransId="{722861E4-5E38-476A-BECF-34A15FC3C4B3}"/>
    <dgm:cxn modelId="{1BF43697-5197-4679-B321-B7C68C4A7488}" type="presOf" srcId="{2EB8812E-F38D-4F49-995D-C51AEB2C73E7}" destId="{22E7CE58-D69B-4CAF-A625-151026B527BB}" srcOrd="0" destOrd="0" presId="urn:microsoft.com/office/officeart/2005/8/layout/chevron2"/>
    <dgm:cxn modelId="{5144F1CB-F7E3-44B6-8F14-C609A072FDC4}" type="presOf" srcId="{15D82E7F-130A-432E-8F21-F4B717B91372}" destId="{837AF1DB-B72F-47EE-8744-4546FD232E94}" srcOrd="0" destOrd="0" presId="urn:microsoft.com/office/officeart/2005/8/layout/chevron2"/>
    <dgm:cxn modelId="{4D94C7F4-B281-4B4F-B34B-D73EA20CCB88}" type="presOf" srcId="{C31151AE-E396-4411-BEA8-7A17EA6DA454}" destId="{6CD1B6BB-532E-4D38-9690-84F889261C0A}" srcOrd="0" destOrd="0" presId="urn:microsoft.com/office/officeart/2005/8/layout/chevron2"/>
    <dgm:cxn modelId="{B50B1874-6468-47A9-AA42-25C0F55F1CB9}" srcId="{2EB8812E-F38D-4F49-995D-C51AEB2C73E7}" destId="{554B660A-FD93-4854-952C-80FB9F51B9FE}" srcOrd="0" destOrd="0" parTransId="{9BB34C6E-1981-45EE-8168-36FE42139BFA}" sibTransId="{0CE89C8A-F289-41AD-9193-1E533AFBD53E}"/>
    <dgm:cxn modelId="{6E82B26E-A67F-45D9-BE76-C81F63AEB319}" type="presParOf" srcId="{22E7CE58-D69B-4CAF-A625-151026B527BB}" destId="{085A2750-346E-47A2-8339-4EECEF8F5145}" srcOrd="0" destOrd="0" presId="urn:microsoft.com/office/officeart/2005/8/layout/chevron2"/>
    <dgm:cxn modelId="{D8B83A3A-4346-4B83-A99F-E161239AE101}" type="presParOf" srcId="{085A2750-346E-47A2-8339-4EECEF8F5145}" destId="{9D27C05F-9A29-4809-8BFC-01207349813C}" srcOrd="0" destOrd="0" presId="urn:microsoft.com/office/officeart/2005/8/layout/chevron2"/>
    <dgm:cxn modelId="{B2BC9AC8-6A3B-4E60-8755-1A0C8F1F6C32}" type="presParOf" srcId="{085A2750-346E-47A2-8339-4EECEF8F5145}" destId="{F61324D0-BE65-440F-8EE4-9A1BF0D61643}" srcOrd="1" destOrd="0" presId="urn:microsoft.com/office/officeart/2005/8/layout/chevron2"/>
    <dgm:cxn modelId="{DAC2A2B3-D849-4C51-96CD-64F51B1DCDD7}" type="presParOf" srcId="{22E7CE58-D69B-4CAF-A625-151026B527BB}" destId="{A1B5C44F-5246-4BC0-9E8A-3ABAD91594A3}" srcOrd="1" destOrd="0" presId="urn:microsoft.com/office/officeart/2005/8/layout/chevron2"/>
    <dgm:cxn modelId="{7F9AA8ED-DBDD-4F58-827A-1C4F2A4F88D3}" type="presParOf" srcId="{22E7CE58-D69B-4CAF-A625-151026B527BB}" destId="{194B76E3-A3D8-43B8-80A4-D7EF2F0CD379}" srcOrd="2" destOrd="0" presId="urn:microsoft.com/office/officeart/2005/8/layout/chevron2"/>
    <dgm:cxn modelId="{AB0C5CD3-2090-4408-8EB6-3E6CF945901A}" type="presParOf" srcId="{194B76E3-A3D8-43B8-80A4-D7EF2F0CD379}" destId="{837AF1DB-B72F-47EE-8744-4546FD232E94}" srcOrd="0" destOrd="0" presId="urn:microsoft.com/office/officeart/2005/8/layout/chevron2"/>
    <dgm:cxn modelId="{42CF5303-3263-4461-87F4-018171DDD41B}" type="presParOf" srcId="{194B76E3-A3D8-43B8-80A4-D7EF2F0CD379}" destId="{B98D64EA-CF0C-4565-A18B-98A3CAB5907D}" srcOrd="1" destOrd="0" presId="urn:microsoft.com/office/officeart/2005/8/layout/chevron2"/>
    <dgm:cxn modelId="{07CE030E-6F6E-47D8-99AF-018494411404}" type="presParOf" srcId="{22E7CE58-D69B-4CAF-A625-151026B527BB}" destId="{E7E8BB75-CE24-48C1-BEC0-45445DDD4205}" srcOrd="3" destOrd="0" presId="urn:microsoft.com/office/officeart/2005/8/layout/chevron2"/>
    <dgm:cxn modelId="{E5BF1624-DBE9-4B92-AE37-04CA4D04AA97}" type="presParOf" srcId="{22E7CE58-D69B-4CAF-A625-151026B527BB}" destId="{2F67BA04-13BD-4526-AD57-0B437B6FAD16}" srcOrd="4" destOrd="0" presId="urn:microsoft.com/office/officeart/2005/8/layout/chevron2"/>
    <dgm:cxn modelId="{C8375B7A-0C91-4D54-9946-A64629D03C86}" type="presParOf" srcId="{2F67BA04-13BD-4526-AD57-0B437B6FAD16}" destId="{6CD1B6BB-532E-4D38-9690-84F889261C0A}" srcOrd="0" destOrd="0" presId="urn:microsoft.com/office/officeart/2005/8/layout/chevron2"/>
    <dgm:cxn modelId="{095F29FD-BB01-428F-A0A8-DD87B96FEAFB}" type="presParOf" srcId="{2F67BA04-13BD-4526-AD57-0B437B6FAD16}" destId="{530E57C5-2A3F-421C-8C66-8E1775A2BD78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4DF0D7-7B10-488F-821A-340420B56170}" type="doc">
      <dgm:prSet loTypeId="urn:microsoft.com/office/officeart/2005/8/layout/default#1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s-PE"/>
        </a:p>
      </dgm:t>
    </dgm:pt>
    <dgm:pt modelId="{96B9596C-B5C9-4245-B61C-8C1BA7D1A157}">
      <dgm:prSet phldrT="[Texto]"/>
      <dgm:spPr/>
      <dgm:t>
        <a:bodyPr/>
        <a:lstStyle/>
        <a:p>
          <a:r>
            <a:rPr lang="es-PE" dirty="0" smtClean="0"/>
            <a:t>Físico</a:t>
          </a:r>
          <a:endParaRPr lang="es-PE" dirty="0"/>
        </a:p>
      </dgm:t>
    </dgm:pt>
    <dgm:pt modelId="{3F566036-6586-480B-B7A3-D5CC8C3442D1}" type="parTrans" cxnId="{6ADEA8D8-9815-44FA-A440-855D6754D57D}">
      <dgm:prSet/>
      <dgm:spPr/>
      <dgm:t>
        <a:bodyPr/>
        <a:lstStyle/>
        <a:p>
          <a:endParaRPr lang="es-PE"/>
        </a:p>
      </dgm:t>
    </dgm:pt>
    <dgm:pt modelId="{22C8D3BE-E25A-4C39-9CEA-B5927F88C495}" type="sibTrans" cxnId="{6ADEA8D8-9815-44FA-A440-855D6754D57D}">
      <dgm:prSet/>
      <dgm:spPr/>
      <dgm:t>
        <a:bodyPr/>
        <a:lstStyle/>
        <a:p>
          <a:endParaRPr lang="es-PE"/>
        </a:p>
      </dgm:t>
    </dgm:pt>
    <dgm:pt modelId="{F3A4AEBF-A9A2-44F8-90A7-4D1D015BE760}">
      <dgm:prSet phldrT="[Texto]"/>
      <dgm:spPr/>
      <dgm:t>
        <a:bodyPr/>
        <a:lstStyle/>
        <a:p>
          <a:r>
            <a:rPr lang="es-PE" dirty="0" smtClean="0"/>
            <a:t>Biológico</a:t>
          </a:r>
          <a:endParaRPr lang="es-PE" dirty="0"/>
        </a:p>
      </dgm:t>
    </dgm:pt>
    <dgm:pt modelId="{635F158B-1808-4AC9-BE8D-491652F9BA0A}" type="parTrans" cxnId="{82348A0A-7317-4B46-A799-9C7F625DB98C}">
      <dgm:prSet/>
      <dgm:spPr/>
      <dgm:t>
        <a:bodyPr/>
        <a:lstStyle/>
        <a:p>
          <a:endParaRPr lang="es-PE"/>
        </a:p>
      </dgm:t>
    </dgm:pt>
    <dgm:pt modelId="{D7677B6C-1681-4456-B6B7-94358266C91E}" type="sibTrans" cxnId="{82348A0A-7317-4B46-A799-9C7F625DB98C}">
      <dgm:prSet/>
      <dgm:spPr/>
      <dgm:t>
        <a:bodyPr/>
        <a:lstStyle/>
        <a:p>
          <a:endParaRPr lang="es-PE"/>
        </a:p>
      </dgm:t>
    </dgm:pt>
    <dgm:pt modelId="{4C4B5998-34C1-420B-B924-1A0D9D49011E}">
      <dgm:prSet phldrT="[Texto]"/>
      <dgm:spPr/>
      <dgm:t>
        <a:bodyPr/>
        <a:lstStyle/>
        <a:p>
          <a:r>
            <a:rPr lang="es-PE" dirty="0" smtClean="0"/>
            <a:t>Químico</a:t>
          </a:r>
          <a:endParaRPr lang="es-PE" dirty="0"/>
        </a:p>
      </dgm:t>
    </dgm:pt>
    <dgm:pt modelId="{B3FB9EBB-4F91-4D86-805E-276ACB632894}" type="parTrans" cxnId="{DCA5F657-DD16-4663-9BDD-9D97C91C0A7F}">
      <dgm:prSet/>
      <dgm:spPr/>
      <dgm:t>
        <a:bodyPr/>
        <a:lstStyle/>
        <a:p>
          <a:endParaRPr lang="es-PE"/>
        </a:p>
      </dgm:t>
    </dgm:pt>
    <dgm:pt modelId="{C767CEC3-60A6-4078-9F8C-133E0EF43A6C}" type="sibTrans" cxnId="{DCA5F657-DD16-4663-9BDD-9D97C91C0A7F}">
      <dgm:prSet/>
      <dgm:spPr/>
      <dgm:t>
        <a:bodyPr/>
        <a:lstStyle/>
        <a:p>
          <a:endParaRPr lang="es-PE"/>
        </a:p>
      </dgm:t>
    </dgm:pt>
    <dgm:pt modelId="{6EFC9BCA-273F-41F1-BB3C-49578A88E71A}">
      <dgm:prSet phldrT="[Texto]"/>
      <dgm:spPr/>
      <dgm:t>
        <a:bodyPr/>
        <a:lstStyle/>
        <a:p>
          <a:r>
            <a:rPr lang="es-PE" dirty="0" smtClean="0"/>
            <a:t>Ergonómico</a:t>
          </a:r>
          <a:endParaRPr lang="es-PE" dirty="0"/>
        </a:p>
      </dgm:t>
    </dgm:pt>
    <dgm:pt modelId="{743516FE-C0B0-4094-B7DF-8330C327206B}" type="parTrans" cxnId="{EA9DC1FD-8EB2-41B6-BAFF-F70DA9EFA399}">
      <dgm:prSet/>
      <dgm:spPr/>
      <dgm:t>
        <a:bodyPr/>
        <a:lstStyle/>
        <a:p>
          <a:endParaRPr lang="es-PE"/>
        </a:p>
      </dgm:t>
    </dgm:pt>
    <dgm:pt modelId="{D8A92174-3511-4034-B0A2-D0BFC8E5BEF3}" type="sibTrans" cxnId="{EA9DC1FD-8EB2-41B6-BAFF-F70DA9EFA399}">
      <dgm:prSet/>
      <dgm:spPr/>
      <dgm:t>
        <a:bodyPr/>
        <a:lstStyle/>
        <a:p>
          <a:endParaRPr lang="es-PE"/>
        </a:p>
      </dgm:t>
    </dgm:pt>
    <dgm:pt modelId="{89B0CF35-FA30-42AB-964F-D083A49A00E4}">
      <dgm:prSet phldrT="[Texto]"/>
      <dgm:spPr/>
      <dgm:t>
        <a:bodyPr/>
        <a:lstStyle/>
        <a:p>
          <a:r>
            <a:rPr lang="es-PE" dirty="0" smtClean="0"/>
            <a:t>Psicosocial</a:t>
          </a:r>
          <a:endParaRPr lang="es-PE" dirty="0"/>
        </a:p>
      </dgm:t>
    </dgm:pt>
    <dgm:pt modelId="{24ECD815-BD94-4E98-BFC6-F51F1D060498}" type="parTrans" cxnId="{DBE12B4B-562C-4C93-AEF2-D8BB677BCA21}">
      <dgm:prSet/>
      <dgm:spPr/>
      <dgm:t>
        <a:bodyPr/>
        <a:lstStyle/>
        <a:p>
          <a:endParaRPr lang="es-PE"/>
        </a:p>
      </dgm:t>
    </dgm:pt>
    <dgm:pt modelId="{6A2316D9-EBCC-416E-A01B-A000CCF97D74}" type="sibTrans" cxnId="{DBE12B4B-562C-4C93-AEF2-D8BB677BCA21}">
      <dgm:prSet/>
      <dgm:spPr/>
      <dgm:t>
        <a:bodyPr/>
        <a:lstStyle/>
        <a:p>
          <a:endParaRPr lang="es-PE"/>
        </a:p>
      </dgm:t>
    </dgm:pt>
    <dgm:pt modelId="{3472C774-9176-40A8-9FFB-7ADB10DAC272}">
      <dgm:prSet phldrT="[Texto]"/>
      <dgm:spPr/>
      <dgm:t>
        <a:bodyPr/>
        <a:lstStyle/>
        <a:p>
          <a:r>
            <a:rPr lang="es-PE" dirty="0" smtClean="0"/>
            <a:t>Mecánico</a:t>
          </a:r>
          <a:endParaRPr lang="es-PE" dirty="0"/>
        </a:p>
      </dgm:t>
    </dgm:pt>
    <dgm:pt modelId="{C1E226AF-C13A-4A15-A64B-20075BE11802}" type="parTrans" cxnId="{3D984B61-35AC-49F5-BC95-EC455917C3FA}">
      <dgm:prSet/>
      <dgm:spPr/>
      <dgm:t>
        <a:bodyPr/>
        <a:lstStyle/>
        <a:p>
          <a:endParaRPr lang="es-PE"/>
        </a:p>
      </dgm:t>
    </dgm:pt>
    <dgm:pt modelId="{B43CFA91-1C0A-45D1-AB37-DA75661426A7}" type="sibTrans" cxnId="{3D984B61-35AC-49F5-BC95-EC455917C3FA}">
      <dgm:prSet/>
      <dgm:spPr/>
      <dgm:t>
        <a:bodyPr/>
        <a:lstStyle/>
        <a:p>
          <a:endParaRPr lang="es-PE"/>
        </a:p>
      </dgm:t>
    </dgm:pt>
    <dgm:pt modelId="{D2F3527D-AD8E-40B9-977A-92092FC8E2E1}">
      <dgm:prSet phldrT="[Texto]"/>
      <dgm:spPr/>
      <dgm:t>
        <a:bodyPr/>
        <a:lstStyle/>
        <a:p>
          <a:r>
            <a:rPr lang="es-PE" dirty="0" smtClean="0"/>
            <a:t>Locativo</a:t>
          </a:r>
          <a:endParaRPr lang="es-PE" dirty="0"/>
        </a:p>
      </dgm:t>
    </dgm:pt>
    <dgm:pt modelId="{2002E33C-3B7B-43D5-B245-FF63E4F59EB2}" type="parTrans" cxnId="{11B6331D-FC33-4CCD-8CAF-45220EC00BCD}">
      <dgm:prSet/>
      <dgm:spPr/>
      <dgm:t>
        <a:bodyPr/>
        <a:lstStyle/>
        <a:p>
          <a:endParaRPr lang="es-PE"/>
        </a:p>
      </dgm:t>
    </dgm:pt>
    <dgm:pt modelId="{BDB29ACC-3E1A-4B5C-8CD8-72406263E018}" type="sibTrans" cxnId="{11B6331D-FC33-4CCD-8CAF-45220EC00BCD}">
      <dgm:prSet/>
      <dgm:spPr/>
      <dgm:t>
        <a:bodyPr/>
        <a:lstStyle/>
        <a:p>
          <a:endParaRPr lang="es-PE"/>
        </a:p>
      </dgm:t>
    </dgm:pt>
    <dgm:pt modelId="{F9ECD891-56ED-4F4B-AB8F-3580E203A0E9}">
      <dgm:prSet phldrT="[Texto]"/>
      <dgm:spPr/>
      <dgm:t>
        <a:bodyPr/>
        <a:lstStyle/>
        <a:p>
          <a:r>
            <a:rPr lang="es-PE" dirty="0" smtClean="0"/>
            <a:t>Eléctrico</a:t>
          </a:r>
          <a:endParaRPr lang="es-PE" dirty="0"/>
        </a:p>
      </dgm:t>
    </dgm:pt>
    <dgm:pt modelId="{9C2D81E1-9244-4E42-8CDB-E6B187F00F97}" type="parTrans" cxnId="{1353DA6D-35EA-4182-B8AE-165F24EF09A5}">
      <dgm:prSet/>
      <dgm:spPr/>
      <dgm:t>
        <a:bodyPr/>
        <a:lstStyle/>
        <a:p>
          <a:endParaRPr lang="es-PE"/>
        </a:p>
      </dgm:t>
    </dgm:pt>
    <dgm:pt modelId="{8419C0B9-BC3F-473D-92A3-2340C8AEF425}" type="sibTrans" cxnId="{1353DA6D-35EA-4182-B8AE-165F24EF09A5}">
      <dgm:prSet/>
      <dgm:spPr/>
      <dgm:t>
        <a:bodyPr/>
        <a:lstStyle/>
        <a:p>
          <a:endParaRPr lang="es-PE"/>
        </a:p>
      </dgm:t>
    </dgm:pt>
    <dgm:pt modelId="{170E99B2-C439-44DD-8E68-CC07AACF4595}">
      <dgm:prSet phldrT="[Texto]"/>
      <dgm:spPr/>
      <dgm:t>
        <a:bodyPr/>
        <a:lstStyle/>
        <a:p>
          <a:r>
            <a:rPr lang="es-PE" dirty="0" smtClean="0"/>
            <a:t>Incendio y explosiones</a:t>
          </a:r>
          <a:endParaRPr lang="es-PE" dirty="0"/>
        </a:p>
      </dgm:t>
    </dgm:pt>
    <dgm:pt modelId="{30A104F4-943D-4E05-85BF-2C7031718214}" type="parTrans" cxnId="{DBAB3D7C-57F7-47F5-B870-1C8E4378214F}">
      <dgm:prSet/>
      <dgm:spPr/>
      <dgm:t>
        <a:bodyPr/>
        <a:lstStyle/>
        <a:p>
          <a:endParaRPr lang="es-PE"/>
        </a:p>
      </dgm:t>
    </dgm:pt>
    <dgm:pt modelId="{C91572DC-92D3-4D15-9294-3E59DCFB18D0}" type="sibTrans" cxnId="{DBAB3D7C-57F7-47F5-B870-1C8E4378214F}">
      <dgm:prSet/>
      <dgm:spPr/>
      <dgm:t>
        <a:bodyPr/>
        <a:lstStyle/>
        <a:p>
          <a:endParaRPr lang="es-PE"/>
        </a:p>
      </dgm:t>
    </dgm:pt>
    <dgm:pt modelId="{3EA4E62E-83FC-4285-B4DC-7C29947D0345}" type="pres">
      <dgm:prSet presAssocID="{174DF0D7-7B10-488F-821A-340420B5617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5FB6C056-C046-439F-80E4-128F2507DF10}" type="pres">
      <dgm:prSet presAssocID="{96B9596C-B5C9-4245-B61C-8C1BA7D1A157}" presName="node" presStyleLbl="node1" presStyleIdx="0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D117BF43-377E-4CC2-B51B-CEE7439D03BC}" type="pres">
      <dgm:prSet presAssocID="{22C8D3BE-E25A-4C39-9CEA-B5927F88C495}" presName="sibTrans" presStyleCnt="0"/>
      <dgm:spPr/>
    </dgm:pt>
    <dgm:pt modelId="{E5063646-3777-48A8-85A9-25ED35FB88A9}" type="pres">
      <dgm:prSet presAssocID="{F3A4AEBF-A9A2-44F8-90A7-4D1D015BE760}" presName="node" presStyleLbl="node1" presStyleIdx="1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BA9F44BA-B716-44B5-8284-A84C28FF1BD1}" type="pres">
      <dgm:prSet presAssocID="{D7677B6C-1681-4456-B6B7-94358266C91E}" presName="sibTrans" presStyleCnt="0"/>
      <dgm:spPr/>
    </dgm:pt>
    <dgm:pt modelId="{9C6752CD-028D-4AE6-B86F-30A57168E3EF}" type="pres">
      <dgm:prSet presAssocID="{4C4B5998-34C1-420B-B924-1A0D9D49011E}" presName="node" presStyleLbl="node1" presStyleIdx="2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D382E10C-0231-4016-AD23-624ED2F91FF9}" type="pres">
      <dgm:prSet presAssocID="{C767CEC3-60A6-4078-9F8C-133E0EF43A6C}" presName="sibTrans" presStyleCnt="0"/>
      <dgm:spPr/>
    </dgm:pt>
    <dgm:pt modelId="{7123FA14-304D-4EB8-94B0-B79F84CCF125}" type="pres">
      <dgm:prSet presAssocID="{6EFC9BCA-273F-41F1-BB3C-49578A88E71A}" presName="node" presStyleLbl="node1" presStyleIdx="3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9311F14A-1CD1-47FF-BBA4-DEDEFE9D96EF}" type="pres">
      <dgm:prSet presAssocID="{D8A92174-3511-4034-B0A2-D0BFC8E5BEF3}" presName="sibTrans" presStyleCnt="0"/>
      <dgm:spPr/>
    </dgm:pt>
    <dgm:pt modelId="{7F3307BB-5969-445B-A5DC-9C62C113AD45}" type="pres">
      <dgm:prSet presAssocID="{89B0CF35-FA30-42AB-964F-D083A49A00E4}" presName="node" presStyleLbl="node1" presStyleIdx="4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F3D02216-C422-4D29-ADD8-71AE8E6A9DCD}" type="pres">
      <dgm:prSet presAssocID="{6A2316D9-EBCC-416E-A01B-A000CCF97D74}" presName="sibTrans" presStyleCnt="0"/>
      <dgm:spPr/>
    </dgm:pt>
    <dgm:pt modelId="{5CB69330-FA83-4F00-8AFA-2E5ED54C30F2}" type="pres">
      <dgm:prSet presAssocID="{3472C774-9176-40A8-9FFB-7ADB10DAC272}" presName="node" presStyleLbl="node1" presStyleIdx="5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28DC0220-A878-4295-BE38-59947DE7FF79}" type="pres">
      <dgm:prSet presAssocID="{B43CFA91-1C0A-45D1-AB37-DA75661426A7}" presName="sibTrans" presStyleCnt="0"/>
      <dgm:spPr/>
    </dgm:pt>
    <dgm:pt modelId="{10947C4C-6FE1-4738-8D52-9730C14ECC2E}" type="pres">
      <dgm:prSet presAssocID="{D2F3527D-AD8E-40B9-977A-92092FC8E2E1}" presName="node" presStyleLbl="node1" presStyleIdx="6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DD54D890-A658-4D67-8D36-600C733F56B0}" type="pres">
      <dgm:prSet presAssocID="{BDB29ACC-3E1A-4B5C-8CD8-72406263E018}" presName="sibTrans" presStyleCnt="0"/>
      <dgm:spPr/>
    </dgm:pt>
    <dgm:pt modelId="{0D0DE30F-6375-42F8-B656-2A9D61A6AE58}" type="pres">
      <dgm:prSet presAssocID="{F9ECD891-56ED-4F4B-AB8F-3580E203A0E9}" presName="node" presStyleLbl="node1" presStyleIdx="7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CEA4FF35-C2CA-48CE-9F23-DD3CE3982B73}" type="pres">
      <dgm:prSet presAssocID="{8419C0B9-BC3F-473D-92A3-2340C8AEF425}" presName="sibTrans" presStyleCnt="0"/>
      <dgm:spPr/>
    </dgm:pt>
    <dgm:pt modelId="{FB5DA56E-7BF0-4A63-81AD-03DB1032CEE1}" type="pres">
      <dgm:prSet presAssocID="{170E99B2-C439-44DD-8E68-CC07AACF4595}" presName="node" presStyleLbl="node1" presStyleIdx="8" presStyleCnt="9">
        <dgm:presLayoutVars>
          <dgm:bulletEnabled val="1"/>
        </dgm:presLayoutVars>
      </dgm:prSet>
      <dgm:spPr/>
      <dgm:t>
        <a:bodyPr/>
        <a:lstStyle/>
        <a:p>
          <a:endParaRPr lang="es-PE"/>
        </a:p>
      </dgm:t>
    </dgm:pt>
  </dgm:ptLst>
  <dgm:cxnLst>
    <dgm:cxn modelId="{DCA5F657-DD16-4663-9BDD-9D97C91C0A7F}" srcId="{174DF0D7-7B10-488F-821A-340420B56170}" destId="{4C4B5998-34C1-420B-B924-1A0D9D49011E}" srcOrd="2" destOrd="0" parTransId="{B3FB9EBB-4F91-4D86-805E-276ACB632894}" sibTransId="{C767CEC3-60A6-4078-9F8C-133E0EF43A6C}"/>
    <dgm:cxn modelId="{11B6331D-FC33-4CCD-8CAF-45220EC00BCD}" srcId="{174DF0D7-7B10-488F-821A-340420B56170}" destId="{D2F3527D-AD8E-40B9-977A-92092FC8E2E1}" srcOrd="6" destOrd="0" parTransId="{2002E33C-3B7B-43D5-B245-FF63E4F59EB2}" sibTransId="{BDB29ACC-3E1A-4B5C-8CD8-72406263E018}"/>
    <dgm:cxn modelId="{6ADEA8D8-9815-44FA-A440-855D6754D57D}" srcId="{174DF0D7-7B10-488F-821A-340420B56170}" destId="{96B9596C-B5C9-4245-B61C-8C1BA7D1A157}" srcOrd="0" destOrd="0" parTransId="{3F566036-6586-480B-B7A3-D5CC8C3442D1}" sibTransId="{22C8D3BE-E25A-4C39-9CEA-B5927F88C495}"/>
    <dgm:cxn modelId="{DBAB3D7C-57F7-47F5-B870-1C8E4378214F}" srcId="{174DF0D7-7B10-488F-821A-340420B56170}" destId="{170E99B2-C439-44DD-8E68-CC07AACF4595}" srcOrd="8" destOrd="0" parTransId="{30A104F4-943D-4E05-85BF-2C7031718214}" sibTransId="{C91572DC-92D3-4D15-9294-3E59DCFB18D0}"/>
    <dgm:cxn modelId="{89DCAEBB-954B-48C2-9A5F-6A2500C151EA}" type="presOf" srcId="{89B0CF35-FA30-42AB-964F-D083A49A00E4}" destId="{7F3307BB-5969-445B-A5DC-9C62C113AD45}" srcOrd="0" destOrd="0" presId="urn:microsoft.com/office/officeart/2005/8/layout/default#1"/>
    <dgm:cxn modelId="{82348A0A-7317-4B46-A799-9C7F625DB98C}" srcId="{174DF0D7-7B10-488F-821A-340420B56170}" destId="{F3A4AEBF-A9A2-44F8-90A7-4D1D015BE760}" srcOrd="1" destOrd="0" parTransId="{635F158B-1808-4AC9-BE8D-491652F9BA0A}" sibTransId="{D7677B6C-1681-4456-B6B7-94358266C91E}"/>
    <dgm:cxn modelId="{3D984B61-35AC-49F5-BC95-EC455917C3FA}" srcId="{174DF0D7-7B10-488F-821A-340420B56170}" destId="{3472C774-9176-40A8-9FFB-7ADB10DAC272}" srcOrd="5" destOrd="0" parTransId="{C1E226AF-C13A-4A15-A64B-20075BE11802}" sibTransId="{B43CFA91-1C0A-45D1-AB37-DA75661426A7}"/>
    <dgm:cxn modelId="{1353DA6D-35EA-4182-B8AE-165F24EF09A5}" srcId="{174DF0D7-7B10-488F-821A-340420B56170}" destId="{F9ECD891-56ED-4F4B-AB8F-3580E203A0E9}" srcOrd="7" destOrd="0" parTransId="{9C2D81E1-9244-4E42-8CDB-E6B187F00F97}" sibTransId="{8419C0B9-BC3F-473D-92A3-2340C8AEF425}"/>
    <dgm:cxn modelId="{54800C27-FD01-4678-B00D-103ED48BEF03}" type="presOf" srcId="{174DF0D7-7B10-488F-821A-340420B56170}" destId="{3EA4E62E-83FC-4285-B4DC-7C29947D0345}" srcOrd="0" destOrd="0" presId="urn:microsoft.com/office/officeart/2005/8/layout/default#1"/>
    <dgm:cxn modelId="{EF04536F-944C-49BA-A75C-C4E83B623D3E}" type="presOf" srcId="{96B9596C-B5C9-4245-B61C-8C1BA7D1A157}" destId="{5FB6C056-C046-439F-80E4-128F2507DF10}" srcOrd="0" destOrd="0" presId="urn:microsoft.com/office/officeart/2005/8/layout/default#1"/>
    <dgm:cxn modelId="{78D327DF-CEFB-4BEE-999C-11DAF173BF9C}" type="presOf" srcId="{F9ECD891-56ED-4F4B-AB8F-3580E203A0E9}" destId="{0D0DE30F-6375-42F8-B656-2A9D61A6AE58}" srcOrd="0" destOrd="0" presId="urn:microsoft.com/office/officeart/2005/8/layout/default#1"/>
    <dgm:cxn modelId="{C42A400B-4C68-40D8-8DFD-A097D962F334}" type="presOf" srcId="{6EFC9BCA-273F-41F1-BB3C-49578A88E71A}" destId="{7123FA14-304D-4EB8-94B0-B79F84CCF125}" srcOrd="0" destOrd="0" presId="urn:microsoft.com/office/officeart/2005/8/layout/default#1"/>
    <dgm:cxn modelId="{CCD2716A-FCFF-43EF-B03C-7B0708856334}" type="presOf" srcId="{170E99B2-C439-44DD-8E68-CC07AACF4595}" destId="{FB5DA56E-7BF0-4A63-81AD-03DB1032CEE1}" srcOrd="0" destOrd="0" presId="urn:microsoft.com/office/officeart/2005/8/layout/default#1"/>
    <dgm:cxn modelId="{DB1E37BB-53C5-4A5C-A6AA-294DFE4102D2}" type="presOf" srcId="{3472C774-9176-40A8-9FFB-7ADB10DAC272}" destId="{5CB69330-FA83-4F00-8AFA-2E5ED54C30F2}" srcOrd="0" destOrd="0" presId="urn:microsoft.com/office/officeart/2005/8/layout/default#1"/>
    <dgm:cxn modelId="{9BEC98FC-30EE-41FF-90C8-45C6B0AAA3CA}" type="presOf" srcId="{4C4B5998-34C1-420B-B924-1A0D9D49011E}" destId="{9C6752CD-028D-4AE6-B86F-30A57168E3EF}" srcOrd="0" destOrd="0" presId="urn:microsoft.com/office/officeart/2005/8/layout/default#1"/>
    <dgm:cxn modelId="{DBE12B4B-562C-4C93-AEF2-D8BB677BCA21}" srcId="{174DF0D7-7B10-488F-821A-340420B56170}" destId="{89B0CF35-FA30-42AB-964F-D083A49A00E4}" srcOrd="4" destOrd="0" parTransId="{24ECD815-BD94-4E98-BFC6-F51F1D060498}" sibTransId="{6A2316D9-EBCC-416E-A01B-A000CCF97D74}"/>
    <dgm:cxn modelId="{B41F031D-5304-4AAB-9FFE-9C7DC2A123FC}" type="presOf" srcId="{D2F3527D-AD8E-40B9-977A-92092FC8E2E1}" destId="{10947C4C-6FE1-4738-8D52-9730C14ECC2E}" srcOrd="0" destOrd="0" presId="urn:microsoft.com/office/officeart/2005/8/layout/default#1"/>
    <dgm:cxn modelId="{E705D189-0A61-4B9D-8871-1C77A4ED5ADB}" type="presOf" srcId="{F3A4AEBF-A9A2-44F8-90A7-4D1D015BE760}" destId="{E5063646-3777-48A8-85A9-25ED35FB88A9}" srcOrd="0" destOrd="0" presId="urn:microsoft.com/office/officeart/2005/8/layout/default#1"/>
    <dgm:cxn modelId="{EA9DC1FD-8EB2-41B6-BAFF-F70DA9EFA399}" srcId="{174DF0D7-7B10-488F-821A-340420B56170}" destId="{6EFC9BCA-273F-41F1-BB3C-49578A88E71A}" srcOrd="3" destOrd="0" parTransId="{743516FE-C0B0-4094-B7DF-8330C327206B}" sibTransId="{D8A92174-3511-4034-B0A2-D0BFC8E5BEF3}"/>
    <dgm:cxn modelId="{1B7A2DCD-4654-4E2E-B2AB-38981613132E}" type="presParOf" srcId="{3EA4E62E-83FC-4285-B4DC-7C29947D0345}" destId="{5FB6C056-C046-439F-80E4-128F2507DF10}" srcOrd="0" destOrd="0" presId="urn:microsoft.com/office/officeart/2005/8/layout/default#1"/>
    <dgm:cxn modelId="{94F10584-D31A-40B9-8607-9EDB71DAFD7B}" type="presParOf" srcId="{3EA4E62E-83FC-4285-B4DC-7C29947D0345}" destId="{D117BF43-377E-4CC2-B51B-CEE7439D03BC}" srcOrd="1" destOrd="0" presId="urn:microsoft.com/office/officeart/2005/8/layout/default#1"/>
    <dgm:cxn modelId="{10F2A907-E202-4651-AB9B-1C2FC73FD455}" type="presParOf" srcId="{3EA4E62E-83FC-4285-B4DC-7C29947D0345}" destId="{E5063646-3777-48A8-85A9-25ED35FB88A9}" srcOrd="2" destOrd="0" presId="urn:microsoft.com/office/officeart/2005/8/layout/default#1"/>
    <dgm:cxn modelId="{F1F05125-ACF6-4E12-83BF-A5337D913820}" type="presParOf" srcId="{3EA4E62E-83FC-4285-B4DC-7C29947D0345}" destId="{BA9F44BA-B716-44B5-8284-A84C28FF1BD1}" srcOrd="3" destOrd="0" presId="urn:microsoft.com/office/officeart/2005/8/layout/default#1"/>
    <dgm:cxn modelId="{F93246F4-C26E-4DAA-B113-2C6C871FF2B8}" type="presParOf" srcId="{3EA4E62E-83FC-4285-B4DC-7C29947D0345}" destId="{9C6752CD-028D-4AE6-B86F-30A57168E3EF}" srcOrd="4" destOrd="0" presId="urn:microsoft.com/office/officeart/2005/8/layout/default#1"/>
    <dgm:cxn modelId="{5BC52856-34DD-4775-8CF5-C2F3FA108991}" type="presParOf" srcId="{3EA4E62E-83FC-4285-B4DC-7C29947D0345}" destId="{D382E10C-0231-4016-AD23-624ED2F91FF9}" srcOrd="5" destOrd="0" presId="urn:microsoft.com/office/officeart/2005/8/layout/default#1"/>
    <dgm:cxn modelId="{B3DCC0AB-AF1F-4412-9114-C78EB7689EFF}" type="presParOf" srcId="{3EA4E62E-83FC-4285-B4DC-7C29947D0345}" destId="{7123FA14-304D-4EB8-94B0-B79F84CCF125}" srcOrd="6" destOrd="0" presId="urn:microsoft.com/office/officeart/2005/8/layout/default#1"/>
    <dgm:cxn modelId="{A2DDFEFA-451E-451E-A6FF-5A259359B4D1}" type="presParOf" srcId="{3EA4E62E-83FC-4285-B4DC-7C29947D0345}" destId="{9311F14A-1CD1-47FF-BBA4-DEDEFE9D96EF}" srcOrd="7" destOrd="0" presId="urn:microsoft.com/office/officeart/2005/8/layout/default#1"/>
    <dgm:cxn modelId="{E51F96D8-E4E6-4201-9D43-4144E14FC856}" type="presParOf" srcId="{3EA4E62E-83FC-4285-B4DC-7C29947D0345}" destId="{7F3307BB-5969-445B-A5DC-9C62C113AD45}" srcOrd="8" destOrd="0" presId="urn:microsoft.com/office/officeart/2005/8/layout/default#1"/>
    <dgm:cxn modelId="{E86B44B7-B5B8-428A-BA3E-01260103F89E}" type="presParOf" srcId="{3EA4E62E-83FC-4285-B4DC-7C29947D0345}" destId="{F3D02216-C422-4D29-ADD8-71AE8E6A9DCD}" srcOrd="9" destOrd="0" presId="urn:microsoft.com/office/officeart/2005/8/layout/default#1"/>
    <dgm:cxn modelId="{AA62F408-8316-47F5-9C29-616F82215B0A}" type="presParOf" srcId="{3EA4E62E-83FC-4285-B4DC-7C29947D0345}" destId="{5CB69330-FA83-4F00-8AFA-2E5ED54C30F2}" srcOrd="10" destOrd="0" presId="urn:microsoft.com/office/officeart/2005/8/layout/default#1"/>
    <dgm:cxn modelId="{FAEEDF61-6B61-4B52-9ECD-3F6EF30B72F2}" type="presParOf" srcId="{3EA4E62E-83FC-4285-B4DC-7C29947D0345}" destId="{28DC0220-A878-4295-BE38-59947DE7FF79}" srcOrd="11" destOrd="0" presId="urn:microsoft.com/office/officeart/2005/8/layout/default#1"/>
    <dgm:cxn modelId="{281DF6F5-FB05-4F9F-AB32-852CD6619456}" type="presParOf" srcId="{3EA4E62E-83FC-4285-B4DC-7C29947D0345}" destId="{10947C4C-6FE1-4738-8D52-9730C14ECC2E}" srcOrd="12" destOrd="0" presId="urn:microsoft.com/office/officeart/2005/8/layout/default#1"/>
    <dgm:cxn modelId="{4A9FB975-8EEB-4C8D-B54D-8A0D0E001B66}" type="presParOf" srcId="{3EA4E62E-83FC-4285-B4DC-7C29947D0345}" destId="{DD54D890-A658-4D67-8D36-600C733F56B0}" srcOrd="13" destOrd="0" presId="urn:microsoft.com/office/officeart/2005/8/layout/default#1"/>
    <dgm:cxn modelId="{C3F71E25-32F0-48DA-A421-17BB2056218C}" type="presParOf" srcId="{3EA4E62E-83FC-4285-B4DC-7C29947D0345}" destId="{0D0DE30F-6375-42F8-B656-2A9D61A6AE58}" srcOrd="14" destOrd="0" presId="urn:microsoft.com/office/officeart/2005/8/layout/default#1"/>
    <dgm:cxn modelId="{CF021B6E-7D0B-4F4F-9661-CCF036B3C3D3}" type="presParOf" srcId="{3EA4E62E-83FC-4285-B4DC-7C29947D0345}" destId="{CEA4FF35-C2CA-48CE-9F23-DD3CE3982B73}" srcOrd="15" destOrd="0" presId="urn:microsoft.com/office/officeart/2005/8/layout/default#1"/>
    <dgm:cxn modelId="{7123B30F-E0D1-4416-A517-8A1A9C526C99}" type="presParOf" srcId="{3EA4E62E-83FC-4285-B4DC-7C29947D0345}" destId="{FB5DA56E-7BF0-4A63-81AD-03DB1032CEE1}" srcOrd="1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7C05F-9A29-4809-8BFC-01207349813C}">
      <dsp:nvSpPr>
        <dsp:cNvPr id="0" name=""/>
        <dsp:cNvSpPr/>
      </dsp:nvSpPr>
      <dsp:spPr>
        <a:xfrm rot="5400000">
          <a:off x="-235432" y="235950"/>
          <a:ext cx="1569549" cy="109868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b="1" kern="1200" dirty="0" smtClean="0"/>
            <a:t>Identificación de Peligros: </a:t>
          </a:r>
          <a:endParaRPr lang="es-PE" sz="1500" kern="1200" dirty="0"/>
        </a:p>
      </dsp:txBody>
      <dsp:txXfrm rot="-5400000">
        <a:off x="1" y="549859"/>
        <a:ext cx="1098684" cy="470865"/>
      </dsp:txXfrm>
    </dsp:sp>
    <dsp:sp modelId="{F61324D0-BE65-440F-8EE4-9A1BF0D61643}">
      <dsp:nvSpPr>
        <dsp:cNvPr id="0" name=""/>
        <dsp:cNvSpPr/>
      </dsp:nvSpPr>
      <dsp:spPr>
        <a:xfrm rot="5400000">
          <a:off x="4071686" y="-2972483"/>
          <a:ext cx="1020207" cy="6966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500" kern="1200" dirty="0" smtClean="0"/>
            <a:t>Proceso mediante el cual se localiza y reconoce que existe un peligro y se definen sus características </a:t>
          </a:r>
          <a:endParaRPr lang="es-PE" sz="1500" kern="1200" dirty="0"/>
        </a:p>
      </dsp:txBody>
      <dsp:txXfrm rot="-5400000">
        <a:off x="1098684" y="50321"/>
        <a:ext cx="6916409" cy="920603"/>
      </dsp:txXfrm>
    </dsp:sp>
    <dsp:sp modelId="{837AF1DB-B72F-47EE-8744-4546FD232E94}">
      <dsp:nvSpPr>
        <dsp:cNvPr id="0" name=""/>
        <dsp:cNvSpPr/>
      </dsp:nvSpPr>
      <dsp:spPr>
        <a:xfrm rot="5400000">
          <a:off x="-235432" y="1610897"/>
          <a:ext cx="1569549" cy="109868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b="1" kern="1200" dirty="0" smtClean="0"/>
            <a:t>Evaluación de riesgos: </a:t>
          </a:r>
          <a:endParaRPr lang="es-PE" sz="1500" kern="1200" dirty="0"/>
        </a:p>
      </dsp:txBody>
      <dsp:txXfrm rot="-5400000">
        <a:off x="1" y="1924806"/>
        <a:ext cx="1098684" cy="470865"/>
      </dsp:txXfrm>
    </dsp:sp>
    <dsp:sp modelId="{B98D64EA-CF0C-4565-A18B-98A3CAB5907D}">
      <dsp:nvSpPr>
        <dsp:cNvPr id="0" name=""/>
        <dsp:cNvSpPr/>
      </dsp:nvSpPr>
      <dsp:spPr>
        <a:xfrm rot="5400000">
          <a:off x="4071686" y="-1597536"/>
          <a:ext cx="1020207" cy="6966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500" kern="1200" dirty="0" smtClean="0"/>
            <a:t>Es el proceso posterior a la identificación de los peligros, que permite valorar el nivel, grado y gravedad de los mismos proporcionando la información necesaria para que el empleador se encuentre en condiciones de tomar una decisión apropiada sobre la oportunidad, prioridad y tipo de acciones preventivas que debe adoptar.</a:t>
          </a:r>
          <a:endParaRPr lang="es-PE" sz="1500" kern="1200" dirty="0"/>
        </a:p>
      </dsp:txBody>
      <dsp:txXfrm rot="-5400000">
        <a:off x="1098684" y="1425268"/>
        <a:ext cx="6916409" cy="920603"/>
      </dsp:txXfrm>
    </dsp:sp>
    <dsp:sp modelId="{6CD1B6BB-532E-4D38-9690-84F889261C0A}">
      <dsp:nvSpPr>
        <dsp:cNvPr id="0" name=""/>
        <dsp:cNvSpPr/>
      </dsp:nvSpPr>
      <dsp:spPr>
        <a:xfrm rot="5400000">
          <a:off x="-235432" y="2985844"/>
          <a:ext cx="1569549" cy="109868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500" b="1" kern="1200" dirty="0" smtClean="0"/>
            <a:t>Control de riesgos: </a:t>
          </a:r>
          <a:endParaRPr lang="es-PE" sz="1500" kern="1200" dirty="0"/>
        </a:p>
      </dsp:txBody>
      <dsp:txXfrm rot="-5400000">
        <a:off x="1" y="3299753"/>
        <a:ext cx="1098684" cy="470865"/>
      </dsp:txXfrm>
    </dsp:sp>
    <dsp:sp modelId="{530E57C5-2A3F-421C-8C66-8E1775A2BD78}">
      <dsp:nvSpPr>
        <dsp:cNvPr id="0" name=""/>
        <dsp:cNvSpPr/>
      </dsp:nvSpPr>
      <dsp:spPr>
        <a:xfrm rot="5400000">
          <a:off x="4071686" y="-222589"/>
          <a:ext cx="1020207" cy="696621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s-PE" sz="1500" kern="1200" dirty="0" smtClean="0"/>
            <a:t>Es el proceso de toma de decisiones basadas en la información obtenida en la evaluación de riesgos. Se orienta a reducir los riesgos a través de la propuesta de medidas correctivas, la exigencia de su cumplimiento y la evaluación periódica de su eficacia.</a:t>
          </a:r>
          <a:endParaRPr lang="es-PE" sz="1500" kern="1200" dirty="0"/>
        </a:p>
      </dsp:txBody>
      <dsp:txXfrm rot="-5400000">
        <a:off x="1098684" y="2800215"/>
        <a:ext cx="6916409" cy="92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B6C056-C046-439F-80E4-128F2507DF10}">
      <dsp:nvSpPr>
        <dsp:cNvPr id="0" name=""/>
        <dsp:cNvSpPr/>
      </dsp:nvSpPr>
      <dsp:spPr>
        <a:xfrm>
          <a:off x="0" y="126999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Físico</a:t>
          </a:r>
          <a:endParaRPr lang="es-PE" sz="2900" kern="1200" dirty="0"/>
        </a:p>
      </dsp:txBody>
      <dsp:txXfrm>
        <a:off x="0" y="126999"/>
        <a:ext cx="1904999" cy="1143000"/>
      </dsp:txXfrm>
    </dsp:sp>
    <dsp:sp modelId="{E5063646-3777-48A8-85A9-25ED35FB88A9}">
      <dsp:nvSpPr>
        <dsp:cNvPr id="0" name=""/>
        <dsp:cNvSpPr/>
      </dsp:nvSpPr>
      <dsp:spPr>
        <a:xfrm>
          <a:off x="2095500" y="126999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Biológico</a:t>
          </a:r>
          <a:endParaRPr lang="es-PE" sz="2900" kern="1200" dirty="0"/>
        </a:p>
      </dsp:txBody>
      <dsp:txXfrm>
        <a:off x="2095500" y="126999"/>
        <a:ext cx="1904999" cy="1143000"/>
      </dsp:txXfrm>
    </dsp:sp>
    <dsp:sp modelId="{9C6752CD-028D-4AE6-B86F-30A57168E3EF}">
      <dsp:nvSpPr>
        <dsp:cNvPr id="0" name=""/>
        <dsp:cNvSpPr/>
      </dsp:nvSpPr>
      <dsp:spPr>
        <a:xfrm>
          <a:off x="4191000" y="126999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Químico</a:t>
          </a:r>
          <a:endParaRPr lang="es-PE" sz="2900" kern="1200" dirty="0"/>
        </a:p>
      </dsp:txBody>
      <dsp:txXfrm>
        <a:off x="4191000" y="126999"/>
        <a:ext cx="1904999" cy="1143000"/>
      </dsp:txXfrm>
    </dsp:sp>
    <dsp:sp modelId="{7123FA14-304D-4EB8-94B0-B79F84CCF125}">
      <dsp:nvSpPr>
        <dsp:cNvPr id="0" name=""/>
        <dsp:cNvSpPr/>
      </dsp:nvSpPr>
      <dsp:spPr>
        <a:xfrm>
          <a:off x="0" y="1460500"/>
          <a:ext cx="1904999" cy="1143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Ergonómico</a:t>
          </a:r>
          <a:endParaRPr lang="es-PE" sz="2900" kern="1200" dirty="0"/>
        </a:p>
      </dsp:txBody>
      <dsp:txXfrm>
        <a:off x="0" y="1460500"/>
        <a:ext cx="1904999" cy="1143000"/>
      </dsp:txXfrm>
    </dsp:sp>
    <dsp:sp modelId="{7F3307BB-5969-445B-A5DC-9C62C113AD45}">
      <dsp:nvSpPr>
        <dsp:cNvPr id="0" name=""/>
        <dsp:cNvSpPr/>
      </dsp:nvSpPr>
      <dsp:spPr>
        <a:xfrm>
          <a:off x="2095500" y="1460499"/>
          <a:ext cx="1904999" cy="11430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Psicosocial</a:t>
          </a:r>
          <a:endParaRPr lang="es-PE" sz="2900" kern="1200" dirty="0"/>
        </a:p>
      </dsp:txBody>
      <dsp:txXfrm>
        <a:off x="2095500" y="1460499"/>
        <a:ext cx="1904999" cy="1143000"/>
      </dsp:txXfrm>
    </dsp:sp>
    <dsp:sp modelId="{5CB69330-FA83-4F00-8AFA-2E5ED54C30F2}">
      <dsp:nvSpPr>
        <dsp:cNvPr id="0" name=""/>
        <dsp:cNvSpPr/>
      </dsp:nvSpPr>
      <dsp:spPr>
        <a:xfrm>
          <a:off x="4191000" y="1460499"/>
          <a:ext cx="1904999" cy="11430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Mecánico</a:t>
          </a:r>
          <a:endParaRPr lang="es-PE" sz="2900" kern="1200" dirty="0"/>
        </a:p>
      </dsp:txBody>
      <dsp:txXfrm>
        <a:off x="4191000" y="1460499"/>
        <a:ext cx="1904999" cy="1143000"/>
      </dsp:txXfrm>
    </dsp:sp>
    <dsp:sp modelId="{10947C4C-6FE1-4738-8D52-9730C14ECC2E}">
      <dsp:nvSpPr>
        <dsp:cNvPr id="0" name=""/>
        <dsp:cNvSpPr/>
      </dsp:nvSpPr>
      <dsp:spPr>
        <a:xfrm>
          <a:off x="0" y="2793999"/>
          <a:ext cx="1904999" cy="11430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Locativo</a:t>
          </a:r>
          <a:endParaRPr lang="es-PE" sz="2900" kern="1200" dirty="0"/>
        </a:p>
      </dsp:txBody>
      <dsp:txXfrm>
        <a:off x="0" y="2793999"/>
        <a:ext cx="1904999" cy="1143000"/>
      </dsp:txXfrm>
    </dsp:sp>
    <dsp:sp modelId="{0D0DE30F-6375-42F8-B656-2A9D61A6AE58}">
      <dsp:nvSpPr>
        <dsp:cNvPr id="0" name=""/>
        <dsp:cNvSpPr/>
      </dsp:nvSpPr>
      <dsp:spPr>
        <a:xfrm>
          <a:off x="2095500" y="2793999"/>
          <a:ext cx="1904999" cy="11430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Eléctrico</a:t>
          </a:r>
          <a:endParaRPr lang="es-PE" sz="2900" kern="1200" dirty="0"/>
        </a:p>
      </dsp:txBody>
      <dsp:txXfrm>
        <a:off x="2095500" y="2793999"/>
        <a:ext cx="1904999" cy="1143000"/>
      </dsp:txXfrm>
    </dsp:sp>
    <dsp:sp modelId="{FB5DA56E-7BF0-4A63-81AD-03DB1032CEE1}">
      <dsp:nvSpPr>
        <dsp:cNvPr id="0" name=""/>
        <dsp:cNvSpPr/>
      </dsp:nvSpPr>
      <dsp:spPr>
        <a:xfrm>
          <a:off x="4191000" y="2794000"/>
          <a:ext cx="1904999" cy="1143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2900" kern="1200" dirty="0" smtClean="0"/>
            <a:t>Incendio y explosiones</a:t>
          </a:r>
          <a:endParaRPr lang="es-PE" sz="2900" kern="1200" dirty="0"/>
        </a:p>
      </dsp:txBody>
      <dsp:txXfrm>
        <a:off x="4191000" y="2794000"/>
        <a:ext cx="1904999" cy="1143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16211-33F2-4F10-AED5-B592A8E74767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EB5C4-5458-4ECC-B031-FF67B4C8E580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41575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2B1F5037-E0BB-4928-81F2-DEF3E78D61AA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P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39EDF4F-CE90-4044-8D07-9F6072944F91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91672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F4F-CE90-4044-8D07-9F6072944F91}" type="slidenum">
              <a:rPr lang="es-PE" smtClean="0"/>
              <a:pPr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7639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F4F-CE90-4044-8D07-9F6072944F91}" type="slidenum">
              <a:rPr lang="es-PE" smtClean="0"/>
              <a:pPr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763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F4F-CE90-4044-8D07-9F6072944F91}" type="slidenum">
              <a:rPr lang="es-PE" smtClean="0"/>
              <a:pPr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7639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9EDF4F-CE90-4044-8D07-9F6072944F91}" type="slidenum">
              <a:rPr lang="es-PE" smtClean="0"/>
              <a:pPr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176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7" name="6 Rectángulo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P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8" name="7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2" name="11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P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12" name="11 Marcador de número de diapositiva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s-PE"/>
          </a:p>
        </p:txBody>
      </p:sp>
      <p:sp>
        <p:nvSpPr>
          <p:cNvPr id="16" name="15 Marcador de texto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5" name="14 Marcador de texto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Rectángulo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1" name="10 Rectángulo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Marcador de fecha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13" name="12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14" name="13 Marcador de pie de página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s-PE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s-PE"/>
          </a:p>
        </p:txBody>
      </p:sp>
      <p:sp>
        <p:nvSpPr>
          <p:cNvPr id="7" name="6 Rectángulo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E1DF283F-2837-47A4-B4B8-B11762120A4D}" type="datetimeFigureOut">
              <a:rPr lang="es-PE" smtClean="0"/>
              <a:pPr/>
              <a:t>17/01/2022</a:t>
            </a:fld>
            <a:endParaRPr lang="es-PE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6 Rectángulo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B2AD0A4-FFEE-441F-8CBE-F0E4CFB295A8}" type="slidenum">
              <a:rPr lang="es-PE" smtClean="0"/>
              <a:pPr/>
              <a:t>‹Nº›</a:t>
            </a:fld>
            <a:endParaRPr lang="es-P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5.wmf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9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5" Type="http://schemas.microsoft.com/office/2007/relationships/hdphoto" Target="../media/hdphoto8.wdp"/><Relationship Id="rId10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microsoft.com/office/2007/relationships/hdphoto" Target="../media/hdphoto5.wdp"/><Relationship Id="rId1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feedbackcapacitacion.cl/wp-content/uploads/2015/07/img_prevenci%C3%B3n.png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723" y="-1"/>
            <a:ext cx="916572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-21723" y="4941168"/>
            <a:ext cx="9187446" cy="1152128"/>
          </a:xfrm>
          <a:solidFill>
            <a:schemeClr val="accent2">
              <a:lumMod val="75000"/>
              <a:alpha val="8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s-PE" sz="3600" dirty="0" smtClean="0">
                <a:solidFill>
                  <a:schemeClr val="tx1"/>
                </a:solidFill>
              </a:rPr>
              <a:t>IDENTIFICACIÓN DE PELIGROS, EVALUACIÓN  Y CONTROL DE RIESGOS </a:t>
            </a:r>
            <a:endParaRPr lang="es-PE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2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Título"/>
          <p:cNvSpPr txBox="1">
            <a:spLocks/>
          </p:cNvSpPr>
          <p:nvPr/>
        </p:nvSpPr>
        <p:spPr>
          <a:xfrm>
            <a:off x="1371600" y="29337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 smtClean="0">
                <a:solidFill>
                  <a:schemeClr val="bg1"/>
                </a:solidFill>
              </a:rPr>
              <a:t>Conceptos básicos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2 Título"/>
          <p:cNvSpPr txBox="1">
            <a:spLocks/>
          </p:cNvSpPr>
          <p:nvPr/>
        </p:nvSpPr>
        <p:spPr>
          <a:xfrm>
            <a:off x="-1" y="2933700"/>
            <a:ext cx="1291771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44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Peligro y riesgo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s-PE" sz="2700" dirty="0"/>
              <a:t>Situación o característica intrínseca de algo capaz de ocasionar </a:t>
            </a:r>
            <a:r>
              <a:rPr lang="es-PE" sz="2700" u="sng" dirty="0"/>
              <a:t>daños</a:t>
            </a:r>
            <a:r>
              <a:rPr lang="es-PE" sz="2700" dirty="0"/>
              <a:t> a las personas, equipos, procesos y ambiente (D.S. 005-2012TR</a:t>
            </a:r>
            <a:r>
              <a:rPr lang="es-PE" sz="2700" dirty="0" smtClean="0"/>
              <a:t>).</a:t>
            </a:r>
            <a:endParaRPr lang="es-PE" sz="2700" dirty="0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s-PE" u="sng" dirty="0"/>
              <a:t>Probabilidad</a:t>
            </a:r>
            <a:r>
              <a:rPr lang="es-PE" dirty="0"/>
              <a:t> de que un peligro se materialice </a:t>
            </a:r>
            <a:r>
              <a:rPr lang="es-PE" dirty="0" smtClean="0"/>
              <a:t>en determinadas </a:t>
            </a:r>
            <a:r>
              <a:rPr lang="es-PE" dirty="0"/>
              <a:t>condiciones y genere daños a las personas,</a:t>
            </a:r>
            <a:br>
              <a:rPr lang="es-PE" dirty="0"/>
            </a:br>
            <a:r>
              <a:rPr lang="es-PE" dirty="0"/>
              <a:t>equipos y al </a:t>
            </a:r>
            <a:r>
              <a:rPr lang="es-PE" dirty="0" smtClean="0"/>
              <a:t>ambiente </a:t>
            </a:r>
            <a:r>
              <a:rPr lang="es-PE" sz="3200" dirty="0"/>
              <a:t>(D.S. 005-2012TR</a:t>
            </a:r>
            <a:r>
              <a:rPr lang="es-PE" sz="3200" dirty="0" smtClean="0"/>
              <a:t>).</a:t>
            </a:r>
          </a:p>
          <a:p>
            <a:pPr marL="0" indent="0" algn="just">
              <a:buNone/>
            </a:pPr>
            <a:r>
              <a:rPr lang="es-PE" sz="3200" dirty="0" smtClean="0"/>
              <a:t> </a:t>
            </a:r>
            <a:endParaRPr lang="es-PE" dirty="0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6" name="5 Marcador de texto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PE" dirty="0" smtClean="0"/>
              <a:t>Riesgo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5569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Ejemplo de peligro</a:t>
            </a:r>
            <a:endParaRPr lang="es-PE" dirty="0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755650" y="1847304"/>
            <a:ext cx="7704138" cy="43180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98000" tIns="154800" rIns="234000" bIns="118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sz="1400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  <a:p>
            <a:pPr algn="just" eaLnBrk="1" hangingPunct="1">
              <a:lnSpc>
                <a:spcPct val="150000"/>
              </a:lnSpc>
            </a:pPr>
            <a:endParaRPr lang="es-ES" altLang="es-PE" b="1"/>
          </a:p>
        </p:txBody>
      </p:sp>
      <p:grpSp>
        <p:nvGrpSpPr>
          <p:cNvPr id="4" name="Group 4"/>
          <p:cNvGrpSpPr>
            <a:grpSpLocks/>
          </p:cNvGrpSpPr>
          <p:nvPr/>
        </p:nvGrpSpPr>
        <p:grpSpPr bwMode="auto">
          <a:xfrm>
            <a:off x="976313" y="2082254"/>
            <a:ext cx="2227262" cy="1922463"/>
            <a:chOff x="615" y="1130"/>
            <a:chExt cx="1641" cy="1396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1334" y="1607"/>
              <a:ext cx="922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s-PE" sz="1600" b="1"/>
                <a:t>Ruido</a:t>
              </a:r>
            </a:p>
          </p:txBody>
        </p:sp>
        <p:pic>
          <p:nvPicPr>
            <p:cNvPr id="6" name="Picture 6" descr="PE02101_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5" y="1130"/>
              <a:ext cx="854" cy="13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5940425" y="2125117"/>
            <a:ext cx="2360613" cy="1724025"/>
            <a:chOff x="3502" y="1157"/>
            <a:chExt cx="1727" cy="1323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3850" y="2222"/>
              <a:ext cx="1379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s-PE" sz="1600" b="1"/>
                <a:t>Gases y Vapores</a:t>
              </a:r>
            </a:p>
          </p:txBody>
        </p:sp>
        <p:pic>
          <p:nvPicPr>
            <p:cNvPr id="9" name="Picture 9" descr="IN00412_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2" y="1157"/>
              <a:ext cx="1635" cy="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5292725" y="4222204"/>
            <a:ext cx="3021013" cy="1698625"/>
            <a:chOff x="3469" y="2932"/>
            <a:chExt cx="1903" cy="1070"/>
          </a:xfrm>
        </p:grpSpPr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3469" y="3561"/>
              <a:ext cx="922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s-PE" sz="1600" b="1"/>
                <a:t>Humos metálicos</a:t>
              </a:r>
            </a:p>
          </p:txBody>
        </p:sp>
        <p:pic>
          <p:nvPicPr>
            <p:cNvPr id="12" name="Picture 12" descr="IN00327_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59" y="2932"/>
              <a:ext cx="1013" cy="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900113" y="4293642"/>
            <a:ext cx="1344612" cy="1668462"/>
            <a:chOff x="352" y="2806"/>
            <a:chExt cx="847" cy="1051"/>
          </a:xfrm>
        </p:grpSpPr>
        <p:pic>
          <p:nvPicPr>
            <p:cNvPr id="14" name="Picture 14" descr="BD06716_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6" y="2806"/>
              <a:ext cx="763" cy="7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352" y="3645"/>
              <a:ext cx="82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s-PE" sz="1600" b="1"/>
                <a:t>Iluminacion</a:t>
              </a:r>
            </a:p>
          </p:txBody>
        </p:sp>
      </p:grpSp>
      <p:grpSp>
        <p:nvGrpSpPr>
          <p:cNvPr id="16" name="Group 16"/>
          <p:cNvGrpSpPr>
            <a:grpSpLocks/>
          </p:cNvGrpSpPr>
          <p:nvPr/>
        </p:nvGrpSpPr>
        <p:grpSpPr bwMode="auto">
          <a:xfrm>
            <a:off x="3132138" y="4365079"/>
            <a:ext cx="1485900" cy="1512888"/>
            <a:chOff x="1559" y="2506"/>
            <a:chExt cx="936" cy="953"/>
          </a:xfrm>
        </p:grpSpPr>
        <p:graphicFrame>
          <p:nvGraphicFramePr>
            <p:cNvPr id="17" name="Object 17"/>
            <p:cNvGraphicFramePr>
              <a:graphicFrameLocks/>
            </p:cNvGraphicFramePr>
            <p:nvPr/>
          </p:nvGraphicFramePr>
          <p:xfrm>
            <a:off x="1559" y="2506"/>
            <a:ext cx="936" cy="7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47" name="CorelDRAW 6.0" r:id="rId7" imgW="1816100" imgH="1589088" progId="">
                    <p:embed/>
                  </p:oleObj>
                </mc:Choice>
                <mc:Fallback>
                  <p:oleObj name="CorelDRAW 6.0" r:id="rId7" imgW="1816100" imgH="1589088" progId="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9" y="2506"/>
                          <a:ext cx="936" cy="7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1683" y="3247"/>
              <a:ext cx="5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s-PE" sz="1600" b="1"/>
                <a:t>Polvo</a:t>
              </a:r>
            </a:p>
          </p:txBody>
        </p:sp>
      </p:grp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3492500" y="2133054"/>
            <a:ext cx="1630363" cy="2051050"/>
            <a:chOff x="2609" y="1944"/>
            <a:chExt cx="1027" cy="1292"/>
          </a:xfrm>
        </p:grpSpPr>
        <p:pic>
          <p:nvPicPr>
            <p:cNvPr id="20" name="Picture 20" descr="PE02092_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9" y="1944"/>
              <a:ext cx="833" cy="1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2703" y="3024"/>
              <a:ext cx="93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s-ES" altLang="es-PE" sz="1600" b="1"/>
                <a:t>Ergonómicos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34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Ejemplo de riesgo</a:t>
            </a:r>
            <a:endParaRPr lang="es-PE" dirty="0"/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612648" y="1844824"/>
            <a:ext cx="7991800" cy="18288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PE" sz="2400" b="1" dirty="0" smtClean="0">
                <a:solidFill>
                  <a:schemeClr val="accent2"/>
                </a:solidFill>
              </a:rPr>
              <a:t>Una sustancia química es un peligro. </a:t>
            </a:r>
          </a:p>
          <a:p>
            <a:pPr marL="0" indent="0" algn="just">
              <a:buNone/>
            </a:pPr>
            <a:r>
              <a:rPr lang="es-PE" sz="2400" dirty="0" smtClean="0"/>
              <a:t>La toxicidad de una sustancia y efecto que tendrá en nosotros dependerá de la dosis y duración de la exposición a la sustancia (</a:t>
            </a:r>
            <a:r>
              <a:rPr lang="es-PE" sz="2400" b="1" dirty="0" smtClean="0"/>
              <a:t>todavía no es un riesgo).</a:t>
            </a:r>
            <a:endParaRPr lang="es-PE" sz="2400" dirty="0"/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612647" y="4365104"/>
            <a:ext cx="7991801" cy="11521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PE" sz="2400" dirty="0" smtClean="0"/>
              <a:t>El riesgo es la probabilidad u oportunidad de que una persona o personas sean expuestas a esta sustancia.</a:t>
            </a:r>
            <a:endParaRPr lang="es-PE" sz="2400" dirty="0"/>
          </a:p>
        </p:txBody>
      </p:sp>
      <p:sp>
        <p:nvSpPr>
          <p:cNvPr id="7" name="6 Flecha abajo"/>
          <p:cNvSpPr/>
          <p:nvPr/>
        </p:nvSpPr>
        <p:spPr>
          <a:xfrm>
            <a:off x="4427984" y="3861048"/>
            <a:ext cx="720080" cy="39988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643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Peligro y riesgo</a:t>
            </a:r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/>
          </p:nvPr>
        </p:nvGraphicFramePr>
        <p:xfrm>
          <a:off x="873125" y="1901349"/>
          <a:ext cx="7632699" cy="406895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544233"/>
                <a:gridCol w="2544233"/>
                <a:gridCol w="2544233"/>
              </a:tblGrid>
              <a:tr h="6477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MX" sz="1600" b="1" dirty="0">
                          <a:effectLst/>
                        </a:rPr>
                        <a:t>PELIGRO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MX" sz="1600" b="1" dirty="0">
                          <a:effectLst/>
                        </a:rPr>
                        <a:t>RIESGO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MX" sz="1600" b="1" dirty="0">
                          <a:effectLst/>
                        </a:rPr>
                        <a:t>CONSECUENCIAS</a:t>
                      </a:r>
                      <a:endParaRPr lang="es-PE" sz="16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MX" sz="1600" dirty="0">
                          <a:effectLst/>
                        </a:rPr>
                        <a:t>RUIDO &gt; 85 </a:t>
                      </a:r>
                      <a:r>
                        <a:rPr lang="es-MX" sz="1600" dirty="0" err="1" smtClean="0">
                          <a:effectLst/>
                        </a:rPr>
                        <a:t>dBA</a:t>
                      </a:r>
                      <a:r>
                        <a:rPr lang="es-MX" sz="1600" dirty="0" smtClean="0">
                          <a:effectLst/>
                        </a:rPr>
                        <a:t>  </a:t>
                      </a:r>
                      <a:r>
                        <a:rPr lang="es-MX" sz="1600" dirty="0">
                          <a:effectLst/>
                        </a:rPr>
                        <a:t>generado por </a:t>
                      </a:r>
                      <a:r>
                        <a:rPr lang="es-MX" sz="1600" dirty="0" smtClean="0">
                          <a:effectLst/>
                        </a:rPr>
                        <a:t>compresora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MX" sz="1600" dirty="0">
                          <a:effectLst/>
                        </a:rPr>
                        <a:t>Sobreexposición al ruido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Hipoacusia inducida por ruido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Prensa sin guarda de protección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Atrapamiento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Herida - amputación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>
                          <a:effectLst/>
                        </a:rPr>
                        <a:t>Levantar carga con espalda doblada</a:t>
                      </a:r>
                      <a:endParaRPr lang="es-PE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Sobreesfuerzo en la zona lumbar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Hernia - lumbalgia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Piso resbaloso con cera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Caída al mismo nivel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Contusión - fisura</a:t>
                      </a:r>
                      <a:endParaRPr lang="es-PE" sz="16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Fractura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  <a:tr h="68516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Alta </a:t>
                      </a:r>
                      <a:r>
                        <a:rPr lang="es-ES" sz="1600" dirty="0" err="1">
                          <a:effectLst/>
                        </a:rPr>
                        <a:t>conc</a:t>
                      </a:r>
                      <a:r>
                        <a:rPr lang="es-ES" sz="1600" dirty="0">
                          <a:effectLst/>
                        </a:rPr>
                        <a:t>. </a:t>
                      </a:r>
                      <a:r>
                        <a:rPr lang="es-ES" sz="1600" dirty="0" smtClean="0">
                          <a:effectLst/>
                        </a:rPr>
                        <a:t>de </a:t>
                      </a:r>
                      <a:r>
                        <a:rPr lang="es-ES" sz="1600" dirty="0">
                          <a:effectLst/>
                        </a:rPr>
                        <a:t>fibras de asbesto en zona mezclado 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Sobreexposición a fibras de asbesto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s-ES" sz="1600" dirty="0">
                          <a:effectLst/>
                        </a:rPr>
                        <a:t>Enfermedades a las vías respiratorias: asbestosis </a:t>
                      </a:r>
                      <a:endParaRPr lang="es-PE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78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IPERC</a:t>
            </a:r>
            <a:endParaRPr lang="es-PE" dirty="0"/>
          </a:p>
        </p:txBody>
      </p:sp>
      <p:graphicFrame>
        <p:nvGraphicFramePr>
          <p:cNvPr id="4" name="3 Diagrama"/>
          <p:cNvGraphicFramePr/>
          <p:nvPr>
            <p:extLst/>
          </p:nvPr>
        </p:nvGraphicFramePr>
        <p:xfrm>
          <a:off x="611560" y="1916832"/>
          <a:ext cx="8064896" cy="4320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0672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IPERC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s-PE" dirty="0"/>
              <a:t>Considerar todos los peligros y riesgos provenientes de los procesos y de las actividades relacionadas con el </a:t>
            </a:r>
            <a:r>
              <a:rPr lang="es-PE" dirty="0" smtClean="0"/>
              <a:t>trabajo.</a:t>
            </a:r>
          </a:p>
          <a:p>
            <a:pPr algn="just"/>
            <a:r>
              <a:rPr lang="es-PE" dirty="0" smtClean="0"/>
              <a:t>Ser </a:t>
            </a:r>
            <a:r>
              <a:rPr lang="es-PE" dirty="0"/>
              <a:t>apropiado para la naturaleza del proceso y del trabajo. El nivel de detalle debe corresponder al nivel de riesgo. </a:t>
            </a:r>
            <a:endParaRPr lang="es-PE" dirty="0" smtClean="0"/>
          </a:p>
          <a:p>
            <a:pPr algn="just"/>
            <a:r>
              <a:rPr lang="es-PE" dirty="0" smtClean="0"/>
              <a:t>Considerar </a:t>
            </a:r>
            <a:r>
              <a:rPr lang="es-PE" dirty="0"/>
              <a:t>los procesos, actividades rutinarias y no rutinarias. </a:t>
            </a:r>
            <a:endParaRPr lang="es-PE" dirty="0" smtClean="0"/>
          </a:p>
          <a:p>
            <a:pPr algn="just"/>
            <a:r>
              <a:rPr lang="es-PE" dirty="0" smtClean="0"/>
              <a:t>Ser </a:t>
            </a:r>
            <a:r>
              <a:rPr lang="es-PE" dirty="0"/>
              <a:t>un proceso sistemático que determine: </a:t>
            </a:r>
            <a:endParaRPr lang="es-PE" dirty="0" smtClean="0"/>
          </a:p>
          <a:p>
            <a:pPr lvl="1" algn="just"/>
            <a:r>
              <a:rPr lang="es-PE" dirty="0" smtClean="0"/>
              <a:t>Riesgos </a:t>
            </a:r>
            <a:r>
              <a:rPr lang="es-PE" dirty="0"/>
              <a:t>mayores </a:t>
            </a:r>
            <a:endParaRPr lang="es-PE" dirty="0" smtClean="0"/>
          </a:p>
          <a:p>
            <a:pPr lvl="1" algn="just"/>
            <a:r>
              <a:rPr lang="es-PE" dirty="0" smtClean="0"/>
              <a:t>Riesgos </a:t>
            </a:r>
            <a:r>
              <a:rPr lang="es-PE" dirty="0"/>
              <a:t>menores con crecimiento potencial</a:t>
            </a:r>
          </a:p>
        </p:txBody>
      </p:sp>
    </p:spTree>
    <p:extLst>
      <p:ext uri="{BB962C8B-B14F-4D97-AF65-F5344CB8AC3E}">
        <p14:creationId xmlns:p14="http://schemas.microsoft.com/office/powerpoint/2010/main" val="277486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Título"/>
          <p:cNvSpPr txBox="1">
            <a:spLocks/>
          </p:cNvSpPr>
          <p:nvPr/>
        </p:nvSpPr>
        <p:spPr>
          <a:xfrm>
            <a:off x="1371600" y="29337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 smtClean="0">
                <a:solidFill>
                  <a:schemeClr val="bg1"/>
                </a:solidFill>
              </a:rPr>
              <a:t>Identificación de peligros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2 Título"/>
          <p:cNvSpPr txBox="1">
            <a:spLocks/>
          </p:cNvSpPr>
          <p:nvPr/>
        </p:nvSpPr>
        <p:spPr>
          <a:xfrm>
            <a:off x="-1" y="2933700"/>
            <a:ext cx="1291771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593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Tipos de peligro</a:t>
            </a:r>
            <a:endParaRPr lang="es-PE" dirty="0"/>
          </a:p>
        </p:txBody>
      </p:sp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3471859211"/>
              </p:ext>
            </p:extLst>
          </p:nvPr>
        </p:nvGraphicFramePr>
        <p:xfrm>
          <a:off x="1475656" y="1916832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5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Tipos de 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831560" cy="492514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PE" b="1" dirty="0" smtClean="0"/>
              <a:t>FÍSICO</a:t>
            </a:r>
          </a:p>
          <a:p>
            <a:r>
              <a:rPr lang="es-PE" dirty="0" smtClean="0"/>
              <a:t>Ruido</a:t>
            </a:r>
            <a:endParaRPr lang="es-PE" dirty="0"/>
          </a:p>
          <a:p>
            <a:r>
              <a:rPr lang="es-PE" dirty="0" smtClean="0"/>
              <a:t>Vibraciones</a:t>
            </a:r>
            <a:endParaRPr lang="es-PE" dirty="0"/>
          </a:p>
          <a:p>
            <a:r>
              <a:rPr lang="es-PE" dirty="0" smtClean="0"/>
              <a:t>Presiones </a:t>
            </a:r>
            <a:r>
              <a:rPr lang="es-PE" dirty="0"/>
              <a:t>anormales del entorno (</a:t>
            </a:r>
            <a:r>
              <a:rPr lang="es-PE" dirty="0" err="1"/>
              <a:t>Hipobárica</a:t>
            </a:r>
            <a:r>
              <a:rPr lang="es-PE" dirty="0"/>
              <a:t>, hiperbárica</a:t>
            </a:r>
            <a:r>
              <a:rPr lang="es-PE" dirty="0" smtClean="0"/>
              <a:t>). No </a:t>
            </a:r>
            <a:r>
              <a:rPr lang="es-PE" dirty="0"/>
              <a:t>se refiere a </a:t>
            </a:r>
            <a:r>
              <a:rPr lang="es-PE" dirty="0" smtClean="0"/>
              <a:t>recipientes </a:t>
            </a:r>
            <a:r>
              <a:rPr lang="es-PE" dirty="0"/>
              <a:t>a alta presión</a:t>
            </a:r>
            <a:r>
              <a:rPr lang="es-PE" dirty="0" smtClean="0"/>
              <a:t>: mangueras</a:t>
            </a:r>
            <a:r>
              <a:rPr lang="es-PE" dirty="0"/>
              <a:t>, tuberías, calderas, etc</a:t>
            </a:r>
            <a:r>
              <a:rPr lang="es-PE" dirty="0" smtClean="0"/>
              <a:t>.)</a:t>
            </a:r>
            <a:endParaRPr lang="es-PE" dirty="0"/>
          </a:p>
          <a:p>
            <a:r>
              <a:rPr lang="es-PE" dirty="0" smtClean="0"/>
              <a:t>Presión Atmosférica</a:t>
            </a:r>
            <a:endParaRPr lang="es-PE" dirty="0"/>
          </a:p>
          <a:p>
            <a:r>
              <a:rPr lang="es-PE" dirty="0" smtClean="0"/>
              <a:t>Temperaturas </a:t>
            </a:r>
            <a:r>
              <a:rPr lang="es-PE" dirty="0"/>
              <a:t>extremas altas – </a:t>
            </a:r>
            <a:r>
              <a:rPr lang="es-PE" dirty="0" smtClean="0"/>
              <a:t>calor</a:t>
            </a:r>
          </a:p>
          <a:p>
            <a:r>
              <a:rPr lang="es-PE" dirty="0" smtClean="0"/>
              <a:t>Temperaturas </a:t>
            </a:r>
            <a:r>
              <a:rPr lang="es-PE" dirty="0"/>
              <a:t>extremas bajas – </a:t>
            </a:r>
            <a:r>
              <a:rPr lang="es-PE" dirty="0" smtClean="0"/>
              <a:t>frío</a:t>
            </a:r>
            <a:endParaRPr lang="es-PE" dirty="0"/>
          </a:p>
          <a:p>
            <a:r>
              <a:rPr lang="es-PE" dirty="0" smtClean="0"/>
              <a:t>Radiación </a:t>
            </a:r>
            <a:r>
              <a:rPr lang="es-PE" dirty="0"/>
              <a:t>Ionizante ( de soldadura, infrarrojos, electromagnética, etc</a:t>
            </a:r>
            <a:r>
              <a:rPr lang="es-PE" dirty="0" smtClean="0"/>
              <a:t>.)</a:t>
            </a:r>
            <a:endParaRPr lang="es-PE" dirty="0"/>
          </a:p>
          <a:p>
            <a:r>
              <a:rPr lang="es-PE" dirty="0" smtClean="0"/>
              <a:t>Radiaciones </a:t>
            </a:r>
            <a:r>
              <a:rPr lang="es-PE" dirty="0"/>
              <a:t>No </a:t>
            </a:r>
            <a:r>
              <a:rPr lang="es-PE" dirty="0" smtClean="0"/>
              <a:t>Ionizadas</a:t>
            </a:r>
            <a:endParaRPr lang="es-PE" dirty="0"/>
          </a:p>
          <a:p>
            <a:r>
              <a:rPr lang="es-PE" dirty="0" smtClean="0"/>
              <a:t>Conexiones </a:t>
            </a:r>
            <a:r>
              <a:rPr lang="es-PE" dirty="0"/>
              <a:t>de </a:t>
            </a:r>
            <a:r>
              <a:rPr lang="es-PE" dirty="0" smtClean="0"/>
              <a:t>aire</a:t>
            </a:r>
            <a:endParaRPr lang="es-PE" dirty="0"/>
          </a:p>
          <a:p>
            <a:r>
              <a:rPr lang="es-PE" dirty="0" smtClean="0"/>
              <a:t>Ventilación</a:t>
            </a:r>
            <a:endParaRPr lang="es-PE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492896"/>
            <a:ext cx="193357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4149080"/>
            <a:ext cx="1933575" cy="1420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786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</a:t>
            </a:r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 smtClean="0"/>
              <a:t>BIOLÓGICOS</a:t>
            </a:r>
          </a:p>
          <a:p>
            <a:r>
              <a:rPr lang="es-PE" sz="2400" dirty="0" smtClean="0"/>
              <a:t>Agentes </a:t>
            </a:r>
            <a:r>
              <a:rPr lang="es-PE" sz="2400" dirty="0"/>
              <a:t>biológicos </a:t>
            </a:r>
            <a:r>
              <a:rPr lang="es-PE" sz="2400" dirty="0" smtClean="0"/>
              <a:t>(bacterias </a:t>
            </a:r>
            <a:r>
              <a:rPr lang="es-PE" sz="2400" dirty="0"/>
              <a:t>/ hongos / virus / parásitos / </a:t>
            </a:r>
            <a:r>
              <a:rPr lang="es-PE" sz="2400" dirty="0" smtClean="0"/>
              <a:t>protozoarios ‒ </a:t>
            </a:r>
            <a:r>
              <a:rPr lang="es-PE" sz="2400" dirty="0"/>
              <a:t>exposición en Vectores: ratas, mosquitos, etc. )</a:t>
            </a:r>
            <a:br>
              <a:rPr lang="es-PE" sz="2400" dirty="0"/>
            </a:br>
            <a:r>
              <a:rPr lang="es-PE" sz="2400" dirty="0"/>
              <a:t/>
            </a:r>
            <a:br>
              <a:rPr lang="es-PE" sz="2400" dirty="0"/>
            </a:br>
            <a:endParaRPr lang="es-PE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024" y="3429000"/>
            <a:ext cx="2104256" cy="1966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494" y="3429000"/>
            <a:ext cx="2160240" cy="1966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781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</a:t>
            </a:r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47152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 smtClean="0"/>
              <a:t>QUÍMICOS</a:t>
            </a:r>
          </a:p>
          <a:p>
            <a:r>
              <a:rPr lang="es-PE" sz="2400" dirty="0" smtClean="0"/>
              <a:t>Polvo</a:t>
            </a:r>
          </a:p>
          <a:p>
            <a:r>
              <a:rPr lang="es-PE" sz="2400" dirty="0" smtClean="0"/>
              <a:t>Nieblas </a:t>
            </a:r>
            <a:r>
              <a:rPr lang="es-PE" sz="2400" dirty="0"/>
              <a:t>/ Neblinas </a:t>
            </a:r>
            <a:endParaRPr lang="es-PE" sz="2400" dirty="0" smtClean="0"/>
          </a:p>
          <a:p>
            <a:r>
              <a:rPr lang="es-PE" sz="2400" dirty="0" smtClean="0"/>
              <a:t>Humos</a:t>
            </a:r>
          </a:p>
          <a:p>
            <a:r>
              <a:rPr lang="es-PE" sz="2400" dirty="0" smtClean="0"/>
              <a:t>Gases</a:t>
            </a:r>
          </a:p>
          <a:p>
            <a:r>
              <a:rPr lang="es-PE" sz="2400" dirty="0" smtClean="0"/>
              <a:t>Vapores</a:t>
            </a:r>
          </a:p>
          <a:p>
            <a:r>
              <a:rPr lang="es-PE" sz="2400" dirty="0" smtClean="0"/>
              <a:t>Sólidos (</a:t>
            </a:r>
            <a:r>
              <a:rPr lang="es-PE" sz="2400" dirty="0" err="1" smtClean="0"/>
              <a:t>Ejm</a:t>
            </a:r>
            <a:r>
              <a:rPr lang="es-PE" sz="2400" dirty="0" smtClean="0"/>
              <a:t>: Pellets de cianuro de sodio)</a:t>
            </a:r>
          </a:p>
          <a:p>
            <a:r>
              <a:rPr lang="es-PE" sz="2400" dirty="0" smtClean="0"/>
              <a:t>Líquidos (</a:t>
            </a:r>
            <a:r>
              <a:rPr lang="es-PE" sz="2400" dirty="0" err="1" smtClean="0"/>
              <a:t>Ejm</a:t>
            </a:r>
            <a:r>
              <a:rPr lang="es-PE" sz="2400" dirty="0" smtClean="0"/>
              <a:t>: Soda caustica) </a:t>
            </a:r>
          </a:p>
          <a:p>
            <a:pPr marL="0" indent="0">
              <a:buNone/>
            </a:pPr>
            <a:endParaRPr lang="es-PE" sz="2400" dirty="0" smtClean="0"/>
          </a:p>
          <a:p>
            <a:endParaRPr lang="es-PE" sz="24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426" y="3933056"/>
            <a:ext cx="2404022" cy="188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426" y="1902630"/>
            <a:ext cx="2404022" cy="1886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98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</a:t>
            </a:r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47152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 smtClean="0"/>
              <a:t>PSICOSOCIAL</a:t>
            </a:r>
          </a:p>
          <a:p>
            <a:r>
              <a:rPr lang="es-PE" sz="2400" dirty="0" smtClean="0"/>
              <a:t>Aislamiento </a:t>
            </a:r>
          </a:p>
          <a:p>
            <a:r>
              <a:rPr lang="es-PE" sz="2400" dirty="0" smtClean="0"/>
              <a:t>Acoso laboral</a:t>
            </a:r>
          </a:p>
          <a:p>
            <a:r>
              <a:rPr lang="es-PE" sz="2400" dirty="0" smtClean="0"/>
              <a:t>Fobias.</a:t>
            </a:r>
          </a:p>
          <a:p>
            <a:r>
              <a:rPr lang="es-ES_tradnl" altLang="es-PE" sz="2400" dirty="0"/>
              <a:t>Estilo de mando autoritario.</a:t>
            </a:r>
          </a:p>
          <a:p>
            <a:r>
              <a:rPr lang="es-ES_tradnl" altLang="es-PE" sz="2400" dirty="0"/>
              <a:t>Deficiente clima laboral.</a:t>
            </a:r>
          </a:p>
          <a:p>
            <a:r>
              <a:rPr lang="es-ES_tradnl" altLang="es-PE" sz="2400" dirty="0"/>
              <a:t>Comunicaciones deficientes</a:t>
            </a:r>
          </a:p>
          <a:p>
            <a:r>
              <a:rPr lang="es-ES_tradnl" altLang="es-PE" sz="2400" dirty="0"/>
              <a:t>Turnos y horarios de trabajo.</a:t>
            </a:r>
          </a:p>
          <a:p>
            <a:r>
              <a:rPr lang="es-ES_tradnl" altLang="es-PE" sz="2400" dirty="0"/>
              <a:t>Régimen laboral </a:t>
            </a:r>
            <a:r>
              <a:rPr lang="es-ES_tradnl" altLang="es-PE" sz="2400" dirty="0" smtClean="0"/>
              <a:t>extenso</a:t>
            </a:r>
          </a:p>
          <a:p>
            <a:endParaRPr lang="es-PE" sz="2400" dirty="0" smtClean="0"/>
          </a:p>
          <a:p>
            <a:endParaRPr lang="es-PE" sz="2400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2420938"/>
            <a:ext cx="2376488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6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</a:t>
            </a:r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19792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 smtClean="0"/>
              <a:t>MECÁNICO</a:t>
            </a:r>
          </a:p>
          <a:p>
            <a:r>
              <a:rPr lang="es-PE" sz="2400" dirty="0" smtClean="0"/>
              <a:t>Herramientas </a:t>
            </a:r>
            <a:r>
              <a:rPr lang="es-PE" sz="2400" dirty="0"/>
              <a:t>inadecuadas o </a:t>
            </a:r>
            <a:r>
              <a:rPr lang="es-PE" sz="2400" dirty="0" smtClean="0"/>
              <a:t>defectuosas.</a:t>
            </a:r>
            <a:endParaRPr lang="es-PE" sz="2400" dirty="0"/>
          </a:p>
          <a:p>
            <a:r>
              <a:rPr lang="es-PE" sz="2400" dirty="0" smtClean="0"/>
              <a:t>Organización </a:t>
            </a:r>
            <a:r>
              <a:rPr lang="es-PE" sz="2400" dirty="0"/>
              <a:t>física </a:t>
            </a:r>
            <a:r>
              <a:rPr lang="es-PE" sz="2400" dirty="0" smtClean="0"/>
              <a:t>inadecuada </a:t>
            </a:r>
            <a:r>
              <a:rPr lang="es-PE" sz="2400" dirty="0"/>
              <a:t>(Se refiere a la deficiente distribución de un ambiente que </a:t>
            </a:r>
            <a:r>
              <a:rPr lang="es-PE" sz="2400" dirty="0" smtClean="0"/>
              <a:t>lo torna peligroso)</a:t>
            </a:r>
            <a:endParaRPr lang="es-PE" sz="2400" dirty="0"/>
          </a:p>
          <a:p>
            <a:r>
              <a:rPr lang="es-PE" sz="2400" dirty="0" smtClean="0"/>
              <a:t>Rocas sueltas</a:t>
            </a:r>
            <a:endParaRPr lang="es-PE" sz="2400" dirty="0"/>
          </a:p>
          <a:p>
            <a:r>
              <a:rPr lang="es-PE" sz="2400" dirty="0" smtClean="0"/>
              <a:t>Objetos </a:t>
            </a:r>
            <a:r>
              <a:rPr lang="es-PE" sz="2400" dirty="0"/>
              <a:t>o materiales en </a:t>
            </a:r>
            <a:r>
              <a:rPr lang="es-PE" sz="2400" dirty="0" smtClean="0"/>
              <a:t>altura</a:t>
            </a:r>
            <a:endParaRPr lang="es-PE" sz="2400" dirty="0"/>
          </a:p>
          <a:p>
            <a:r>
              <a:rPr lang="es-PE" sz="2400" dirty="0" smtClean="0"/>
              <a:t>Obstáculos </a:t>
            </a:r>
            <a:r>
              <a:rPr lang="es-PE" sz="2400" dirty="0"/>
              <a:t>en el piso (mangueras, cajas, cables, etc</a:t>
            </a:r>
            <a:r>
              <a:rPr lang="es-PE" sz="2400" dirty="0" smtClean="0"/>
              <a:t>.)</a:t>
            </a:r>
            <a:endParaRPr lang="es-PE" sz="2400" dirty="0"/>
          </a:p>
          <a:p>
            <a:r>
              <a:rPr lang="es-PE" sz="2400" dirty="0" smtClean="0"/>
              <a:t>Partes </a:t>
            </a:r>
            <a:r>
              <a:rPr lang="es-PE" sz="2400" dirty="0"/>
              <a:t>rotatorias o móviles (engranajes, ejes, pistones, etc</a:t>
            </a:r>
            <a:r>
              <a:rPr lang="es-PE" sz="2400" dirty="0" smtClean="0"/>
              <a:t>.)</a:t>
            </a:r>
            <a:endParaRPr lang="es-PE" sz="2400" dirty="0"/>
          </a:p>
          <a:p>
            <a:r>
              <a:rPr lang="es-PE" sz="2400" dirty="0" smtClean="0"/>
              <a:t>Espacios confinados.</a:t>
            </a:r>
          </a:p>
          <a:p>
            <a:r>
              <a:rPr lang="es-PE" sz="2400" dirty="0"/>
              <a:t>Equipos o maquinarias defectuosas</a:t>
            </a:r>
          </a:p>
        </p:txBody>
      </p:sp>
    </p:spTree>
    <p:extLst>
      <p:ext uri="{BB962C8B-B14F-4D97-AF65-F5344CB8AC3E}">
        <p14:creationId xmlns:p14="http://schemas.microsoft.com/office/powerpoint/2010/main" val="62863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</a:t>
            </a:r>
            <a:r>
              <a:rPr lang="es-PE" dirty="0" smtClean="0"/>
              <a:t>peligro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19792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PE" sz="2400" b="1" dirty="0" smtClean="0"/>
              <a:t>LOCATIVO</a:t>
            </a:r>
          </a:p>
          <a:p>
            <a:r>
              <a:rPr lang="es-PE" sz="2400" dirty="0" smtClean="0"/>
              <a:t>Hacinamiento</a:t>
            </a:r>
          </a:p>
          <a:p>
            <a:r>
              <a:rPr lang="es-PE" sz="2400" dirty="0" smtClean="0"/>
              <a:t>Falta de orden y limpieza</a:t>
            </a:r>
          </a:p>
          <a:p>
            <a:r>
              <a:rPr lang="es-PE" sz="2400" dirty="0" smtClean="0"/>
              <a:t>Superficies de trabajo en mal estado</a:t>
            </a:r>
          </a:p>
          <a:p>
            <a:r>
              <a:rPr lang="es-PE" sz="2400" dirty="0" smtClean="0"/>
              <a:t>Infraestructura en mal estado de conservación.</a:t>
            </a:r>
          </a:p>
          <a:p>
            <a:endParaRPr lang="es-PE" sz="2400" dirty="0"/>
          </a:p>
        </p:txBody>
      </p:sp>
      <p:pic>
        <p:nvPicPr>
          <p:cNvPr id="4" name="Picture 5" descr="DSC03330"/>
          <p:cNvPicPr>
            <a:picLocks noChangeAspect="1" noChangeArrowheads="1"/>
          </p:cNvPicPr>
          <p:nvPr/>
        </p:nvPicPr>
        <p:blipFill>
          <a:blip r:embed="rId3">
            <a:lum brigh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4077743"/>
            <a:ext cx="2663825" cy="23050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050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Tipos de peligro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PE" sz="2000" b="1" dirty="0" smtClean="0"/>
              <a:t>ELÉCTRICOS</a:t>
            </a:r>
          </a:p>
          <a:p>
            <a:r>
              <a:rPr lang="es-ES_tradnl" altLang="es-PE" sz="2000" dirty="0" smtClean="0"/>
              <a:t>Tableros eléctricos en mal estado</a:t>
            </a:r>
          </a:p>
          <a:p>
            <a:r>
              <a:rPr lang="es-ES_tradnl" altLang="es-PE" sz="2000" dirty="0" smtClean="0"/>
              <a:t>Conductores </a:t>
            </a:r>
            <a:r>
              <a:rPr lang="es-ES_tradnl" altLang="es-PE" sz="2000" dirty="0"/>
              <a:t>sin entubar y </a:t>
            </a:r>
            <a:r>
              <a:rPr lang="es-ES_tradnl" altLang="es-PE" sz="2000" dirty="0" smtClean="0"/>
              <a:t>expuestos</a:t>
            </a:r>
          </a:p>
          <a:p>
            <a:r>
              <a:rPr lang="es-ES_tradnl" altLang="es-PE" sz="2000" dirty="0" smtClean="0"/>
              <a:t>Tomacorrientes sobrecargados</a:t>
            </a:r>
          </a:p>
          <a:p>
            <a:r>
              <a:rPr lang="es-ES_tradnl" altLang="es-PE" sz="2000" dirty="0" smtClean="0"/>
              <a:t>Deficiente </a:t>
            </a:r>
            <a:r>
              <a:rPr lang="es-ES_tradnl" altLang="es-PE" sz="2000" dirty="0"/>
              <a:t>distribución de </a:t>
            </a:r>
            <a:r>
              <a:rPr lang="es-ES_tradnl" altLang="es-PE" sz="2000" dirty="0" smtClean="0"/>
              <a:t>cargas</a:t>
            </a:r>
          </a:p>
          <a:p>
            <a:r>
              <a:rPr lang="es-ES_tradnl" altLang="es-PE" sz="2000" dirty="0" smtClean="0"/>
              <a:t>Conexiones clandestinas</a:t>
            </a:r>
          </a:p>
          <a:p>
            <a:pPr marL="0" indent="0">
              <a:buNone/>
            </a:pPr>
            <a:endParaRPr lang="es-ES_tradnl" altLang="es-PE" sz="2000" dirty="0"/>
          </a:p>
          <a:p>
            <a:pPr marL="0" indent="0">
              <a:buNone/>
            </a:pPr>
            <a:r>
              <a:rPr lang="es-ES_tradnl" altLang="es-PE" sz="2000" b="1" dirty="0" smtClean="0"/>
              <a:t>INCENDIOS Y EXPLOSIONES</a:t>
            </a:r>
            <a:r>
              <a:rPr lang="es-ES_tradnl" altLang="es-PE" sz="2000" dirty="0" smtClean="0"/>
              <a:t> </a:t>
            </a:r>
            <a:endParaRPr lang="es-ES_tradnl" altLang="es-PE" sz="2000" dirty="0"/>
          </a:p>
          <a:p>
            <a:r>
              <a:rPr lang="es-ES_tradnl" altLang="es-PE" sz="2000" dirty="0"/>
              <a:t>Materiales inflamables cerca de fuentes de calor</a:t>
            </a:r>
          </a:p>
          <a:p>
            <a:r>
              <a:rPr lang="es-ES_tradnl" altLang="es-PE" sz="2000" dirty="0"/>
              <a:t>Cilindros de gases comprimidos inflamables con válvulas defectuosas </a:t>
            </a:r>
            <a:endParaRPr lang="es-ES_tradnl" altLang="es-PE" sz="2000" dirty="0" smtClean="0"/>
          </a:p>
          <a:p>
            <a:r>
              <a:rPr lang="es-ES_tradnl" altLang="es-PE" sz="2000" dirty="0" smtClean="0"/>
              <a:t>Derrames </a:t>
            </a:r>
            <a:r>
              <a:rPr lang="es-ES_tradnl" altLang="es-PE" sz="2000" dirty="0"/>
              <a:t>de líquidos inflamables</a:t>
            </a:r>
          </a:p>
        </p:txBody>
      </p:sp>
    </p:spTree>
    <p:extLst>
      <p:ext uri="{BB962C8B-B14F-4D97-AF65-F5344CB8AC3E}">
        <p14:creationId xmlns:p14="http://schemas.microsoft.com/office/powerpoint/2010/main" val="2680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Título"/>
          <p:cNvSpPr txBox="1">
            <a:spLocks/>
          </p:cNvSpPr>
          <p:nvPr/>
        </p:nvSpPr>
        <p:spPr>
          <a:xfrm>
            <a:off x="1371600" y="29337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 smtClean="0">
                <a:solidFill>
                  <a:schemeClr val="bg1"/>
                </a:solidFill>
              </a:rPr>
              <a:t>Evaluación de riesgos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2 Título"/>
          <p:cNvSpPr txBox="1">
            <a:spLocks/>
          </p:cNvSpPr>
          <p:nvPr/>
        </p:nvSpPr>
        <p:spPr>
          <a:xfrm>
            <a:off x="-1" y="2933700"/>
            <a:ext cx="1291771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17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Evaluación de riesgos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PE" dirty="0"/>
              <a:t>La valoración o nivel de los riesgos (NR) </a:t>
            </a:r>
            <a:r>
              <a:rPr lang="es-PE" dirty="0" smtClean="0"/>
              <a:t>se </a:t>
            </a:r>
            <a:r>
              <a:rPr lang="es-PE" dirty="0"/>
              <a:t>determina combinado dos </a:t>
            </a:r>
            <a:r>
              <a:rPr lang="es-PE" dirty="0" smtClean="0"/>
              <a:t>variables:</a:t>
            </a:r>
          </a:p>
          <a:p>
            <a:pPr marL="0" indent="0">
              <a:buNone/>
            </a:pPr>
            <a:endParaRPr lang="es-PE" dirty="0" smtClean="0"/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 smtClean="0"/>
          </a:p>
          <a:p>
            <a:pPr lvl="0" algn="just"/>
            <a:r>
              <a:rPr lang="es-PE" sz="2000" dirty="0"/>
              <a:t>Probabilidad (P) de que ocurra un suceso o exposición </a:t>
            </a:r>
            <a:r>
              <a:rPr lang="es-PE" sz="2000" dirty="0" smtClean="0"/>
              <a:t>peligrosa.</a:t>
            </a:r>
          </a:p>
          <a:p>
            <a:pPr lvl="0" algn="just"/>
            <a:r>
              <a:rPr lang="es-PE" sz="2000" dirty="0" smtClean="0"/>
              <a:t> Severidad </a:t>
            </a:r>
            <a:r>
              <a:rPr lang="es-PE" sz="2000" dirty="0"/>
              <a:t>(S) del daño o deterioro de la </a:t>
            </a:r>
            <a:r>
              <a:rPr lang="es-PE" sz="2000" dirty="0" smtClean="0"/>
              <a:t>salud.</a:t>
            </a:r>
            <a:endParaRPr lang="es-PE" sz="2000" dirty="0"/>
          </a:p>
          <a:p>
            <a:pPr marL="0" indent="0">
              <a:buNone/>
            </a:pPr>
            <a:endParaRPr lang="es-PE" dirty="0"/>
          </a:p>
        </p:txBody>
      </p:sp>
      <p:sp>
        <p:nvSpPr>
          <p:cNvPr id="4" name="3 CuadroTexto"/>
          <p:cNvSpPr txBox="1"/>
          <p:nvPr/>
        </p:nvSpPr>
        <p:spPr>
          <a:xfrm>
            <a:off x="3491880" y="2996952"/>
            <a:ext cx="2592288" cy="58477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PE" sz="3200" dirty="0" smtClean="0"/>
              <a:t>NR = P x S</a:t>
            </a:r>
            <a:endParaRPr lang="es-PE" sz="3200" dirty="0"/>
          </a:p>
        </p:txBody>
      </p:sp>
    </p:spTree>
    <p:extLst>
      <p:ext uri="{BB962C8B-B14F-4D97-AF65-F5344CB8AC3E}">
        <p14:creationId xmlns:p14="http://schemas.microsoft.com/office/powerpoint/2010/main" val="2709634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Evaluación de riesgos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s-PE" dirty="0" smtClean="0"/>
              <a:t>Cuadro de caracterización de probabilidad</a:t>
            </a:r>
          </a:p>
          <a:p>
            <a:pPr marL="0" indent="0">
              <a:buNone/>
            </a:pPr>
            <a:endParaRPr lang="es-PE" dirty="0"/>
          </a:p>
          <a:p>
            <a:pPr marL="0" indent="0">
              <a:buNone/>
            </a:pPr>
            <a:endParaRPr lang="es-PE" dirty="0" smtClean="0"/>
          </a:p>
          <a:p>
            <a:pPr marL="0" indent="0">
              <a:buNone/>
            </a:pPr>
            <a:endParaRPr lang="es-PE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181225"/>
            <a:ext cx="8352928" cy="408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40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Evaluación de riesgos</a:t>
            </a:r>
            <a:endParaRPr lang="es-PE" dirty="0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s-PE" dirty="0" smtClean="0"/>
              <a:t>Caracterización de la severidad</a:t>
            </a:r>
            <a:endParaRPr lang="es-PE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276871"/>
            <a:ext cx="8136904" cy="437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73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Evaluación </a:t>
            </a:r>
            <a:r>
              <a:rPr lang="es-PE" dirty="0" smtClean="0"/>
              <a:t>de </a:t>
            </a:r>
            <a:r>
              <a:rPr lang="es-PE" dirty="0"/>
              <a:t>riesgos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16832"/>
            <a:ext cx="8389346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75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Evaluación </a:t>
            </a:r>
            <a:r>
              <a:rPr lang="es-PE" dirty="0" smtClean="0"/>
              <a:t>de </a:t>
            </a:r>
            <a:r>
              <a:rPr lang="es-PE" dirty="0"/>
              <a:t>riesgos</a:t>
            </a: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2936"/>
            <a:ext cx="8928992" cy="248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4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Título"/>
          <p:cNvSpPr txBox="1">
            <a:spLocks/>
          </p:cNvSpPr>
          <p:nvPr/>
        </p:nvSpPr>
        <p:spPr>
          <a:xfrm>
            <a:off x="1371600" y="2933700"/>
            <a:ext cx="7772400" cy="990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PE" dirty="0" smtClean="0">
                <a:solidFill>
                  <a:schemeClr val="bg1"/>
                </a:solidFill>
              </a:rPr>
              <a:t>Control del riesgos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5" name="2 Título"/>
          <p:cNvSpPr txBox="1">
            <a:spLocks/>
          </p:cNvSpPr>
          <p:nvPr/>
        </p:nvSpPr>
        <p:spPr>
          <a:xfrm>
            <a:off x="-1" y="2933700"/>
            <a:ext cx="1291771" cy="990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>
            <a:lvl1pPr algn="l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P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655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Control del riesgo</a:t>
            </a:r>
            <a:endParaRPr lang="es-PE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just"/>
            <a:r>
              <a:rPr lang="es-PE" sz="2000" dirty="0"/>
              <a:t>El equipo evaluador recomendará las acciones </a:t>
            </a:r>
            <a:r>
              <a:rPr lang="es-PE" sz="2000" dirty="0" smtClean="0"/>
              <a:t>propuestas para controlar el riesgo, las </a:t>
            </a:r>
            <a:r>
              <a:rPr lang="es-PE" sz="2000" dirty="0"/>
              <a:t>mismas que serán revisadas por el supervisor del programa de </a:t>
            </a:r>
            <a:r>
              <a:rPr lang="es-PE" sz="2000" dirty="0" smtClean="0"/>
              <a:t>SST </a:t>
            </a:r>
            <a:r>
              <a:rPr lang="es-PE" sz="2000" dirty="0"/>
              <a:t>y aprobadas por la gerencia </a:t>
            </a:r>
            <a:r>
              <a:rPr lang="es-PE" sz="2000" dirty="0" smtClean="0"/>
              <a:t>del lugar.</a:t>
            </a:r>
          </a:p>
          <a:p>
            <a:pPr algn="just"/>
            <a:r>
              <a:rPr lang="es-PE" sz="2000" dirty="0" smtClean="0"/>
              <a:t>El </a:t>
            </a:r>
            <a:r>
              <a:rPr lang="es-PE" sz="2000" dirty="0"/>
              <a:t>supervisor del programa de gestión de </a:t>
            </a:r>
            <a:r>
              <a:rPr lang="es-PE" sz="2000" dirty="0" smtClean="0"/>
              <a:t>SST mantendrá informados </a:t>
            </a:r>
            <a:r>
              <a:rPr lang="es-PE" sz="2000" dirty="0"/>
              <a:t>a </a:t>
            </a:r>
            <a:r>
              <a:rPr lang="es-PE" sz="2000" dirty="0" smtClean="0"/>
              <a:t>los equipos evaluadores </a:t>
            </a:r>
            <a:r>
              <a:rPr lang="es-PE" sz="2000" dirty="0"/>
              <a:t>de </a:t>
            </a:r>
            <a:r>
              <a:rPr lang="es-PE" sz="2000" dirty="0" smtClean="0"/>
              <a:t>riesgos, </a:t>
            </a:r>
            <a:r>
              <a:rPr lang="es-PE" sz="2000" dirty="0"/>
              <a:t>sobre las acciones propuestas aprobadas, para su </a:t>
            </a:r>
            <a:r>
              <a:rPr lang="es-PE" sz="2000" dirty="0" smtClean="0"/>
              <a:t>respectivo seguimiento </a:t>
            </a:r>
            <a:r>
              <a:rPr lang="es-PE" sz="2000" dirty="0"/>
              <a:t>de implementación y eficacia</a:t>
            </a:r>
            <a:r>
              <a:rPr lang="es-PE" sz="2000" dirty="0" smtClean="0"/>
              <a:t>.</a:t>
            </a:r>
          </a:p>
          <a:p>
            <a:pPr algn="just"/>
            <a:r>
              <a:rPr lang="es-PE" sz="2000" dirty="0" smtClean="0"/>
              <a:t>El </a:t>
            </a:r>
            <a:r>
              <a:rPr lang="es-PE" sz="2000" dirty="0"/>
              <a:t>mismo equipo de evaluación de riesgo debe re-evaluar los riesgos considerando para el análisis </a:t>
            </a:r>
            <a:r>
              <a:rPr lang="es-PE" sz="2000" dirty="0" smtClean="0"/>
              <a:t>las acciones </a:t>
            </a:r>
            <a:r>
              <a:rPr lang="es-PE" sz="2000" dirty="0"/>
              <a:t>propuestas, determinando la tolerancia del riesgo </a:t>
            </a:r>
            <a:r>
              <a:rPr lang="es-PE" sz="2000" dirty="0" smtClean="0"/>
              <a:t>residual.</a:t>
            </a:r>
          </a:p>
          <a:p>
            <a:pPr algn="just"/>
            <a:r>
              <a:rPr lang="es-PE" sz="2000" dirty="0"/>
              <a:t>Cuando el riesgo residual </a:t>
            </a:r>
            <a:r>
              <a:rPr lang="es-PE" sz="2000" dirty="0" smtClean="0"/>
              <a:t>sea significativo, </a:t>
            </a:r>
            <a:r>
              <a:rPr lang="es-PE" sz="2000" dirty="0"/>
              <a:t>el equipo deberá replantear </a:t>
            </a:r>
            <a:r>
              <a:rPr lang="es-PE" sz="2000" dirty="0" smtClean="0"/>
              <a:t>las acciones </a:t>
            </a:r>
            <a:r>
              <a:rPr lang="es-PE" sz="2000" dirty="0"/>
              <a:t>propuestas hasta que el riesgo residual </a:t>
            </a:r>
            <a:r>
              <a:rPr lang="es-PE" sz="2000" dirty="0" smtClean="0"/>
              <a:t>sea no significativo.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32825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Niveles de control de riesgo</a:t>
            </a:r>
            <a:endParaRPr lang="es-PE" dirty="0"/>
          </a:p>
        </p:txBody>
      </p:sp>
      <p:sp>
        <p:nvSpPr>
          <p:cNvPr id="4" name="6 Cuadro de texto"/>
          <p:cNvSpPr txBox="1"/>
          <p:nvPr/>
        </p:nvSpPr>
        <p:spPr>
          <a:xfrm>
            <a:off x="2123730" y="2740298"/>
            <a:ext cx="2424536" cy="45743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FF0000"/>
                </a:solidFill>
                <a:effectLst/>
                <a:latin typeface="Century Gothic"/>
                <a:ea typeface="Calibri"/>
                <a:cs typeface="Times New Roman"/>
              </a:rPr>
              <a:t>Peligro: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FF0000"/>
                </a:solidFill>
                <a:effectLst/>
                <a:latin typeface="Century Gothic"/>
                <a:ea typeface="Calibri"/>
                <a:cs typeface="Times New Roman"/>
              </a:rPr>
              <a:t>Presencia de tiburones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5" name="7 Cuadro de texto"/>
          <p:cNvSpPr txBox="1"/>
          <p:nvPr/>
        </p:nvSpPr>
        <p:spPr>
          <a:xfrm>
            <a:off x="4587533" y="2740298"/>
            <a:ext cx="2720773" cy="472678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FF0000"/>
                </a:solidFill>
                <a:effectLst/>
                <a:latin typeface="Century Gothic"/>
                <a:ea typeface="Calibri"/>
                <a:cs typeface="Times New Roman"/>
              </a:rPr>
              <a:t>Riesgo: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FF0000"/>
                </a:solidFill>
                <a:effectLst/>
                <a:latin typeface="Century Gothic"/>
                <a:ea typeface="Calibri"/>
                <a:cs typeface="Times New Roman"/>
              </a:rPr>
              <a:t>Ataque </a:t>
            </a:r>
            <a:r>
              <a:rPr lang="es-PE" sz="1400" b="1" dirty="0" smtClean="0">
                <a:solidFill>
                  <a:srgbClr val="FF0000"/>
                </a:solidFill>
                <a:effectLst/>
                <a:latin typeface="Century Gothic"/>
                <a:ea typeface="Calibri"/>
                <a:cs typeface="Times New Roman"/>
              </a:rPr>
              <a:t>de tiburones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6" name="9 Cuadro de texto"/>
          <p:cNvSpPr txBox="1"/>
          <p:nvPr/>
        </p:nvSpPr>
        <p:spPr>
          <a:xfrm>
            <a:off x="539553" y="5040487"/>
            <a:ext cx="1253584" cy="774735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1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Eliminación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7" name="10 Cuadro de texto"/>
          <p:cNvSpPr txBox="1"/>
          <p:nvPr/>
        </p:nvSpPr>
        <p:spPr>
          <a:xfrm>
            <a:off x="2051721" y="5040488"/>
            <a:ext cx="1253584" cy="715459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2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Sustitución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8" name="11 Cuadro de texto"/>
          <p:cNvSpPr txBox="1"/>
          <p:nvPr/>
        </p:nvSpPr>
        <p:spPr>
          <a:xfrm>
            <a:off x="3563889" y="5040485"/>
            <a:ext cx="1253584" cy="852032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3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Control de Ingeniería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9" name="12 Cuadro de texto"/>
          <p:cNvSpPr txBox="1"/>
          <p:nvPr/>
        </p:nvSpPr>
        <p:spPr>
          <a:xfrm>
            <a:off x="5220074" y="5040488"/>
            <a:ext cx="1554301" cy="797491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4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Control Administrativo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10" name="13 Cuadro de texto"/>
          <p:cNvSpPr txBox="1"/>
          <p:nvPr/>
        </p:nvSpPr>
        <p:spPr>
          <a:xfrm>
            <a:off x="7134840" y="5040485"/>
            <a:ext cx="1253584" cy="621652"/>
          </a:xfrm>
          <a:prstGeom prst="rect">
            <a:avLst/>
          </a:prstGeom>
          <a:solidFill>
            <a:schemeClr val="lt1"/>
          </a:solidFill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5</a:t>
            </a:r>
            <a:endParaRPr lang="es-PE" sz="1400" dirty="0">
              <a:effectLst/>
              <a:ea typeface="Calibri"/>
              <a:cs typeface="Times New Roman"/>
            </a:endParaRPr>
          </a:p>
          <a:p>
            <a:pPr algn="ctr">
              <a:spcAft>
                <a:spcPts val="0"/>
              </a:spcAft>
            </a:pPr>
            <a:r>
              <a:rPr lang="es-PE" sz="14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EPP</a:t>
            </a:r>
            <a:endParaRPr lang="es-PE" sz="1400" dirty="0">
              <a:effectLst/>
              <a:ea typeface="Calibri"/>
              <a:cs typeface="Times New Roman"/>
            </a:endParaRPr>
          </a:p>
        </p:txBody>
      </p:sp>
      <p:sp>
        <p:nvSpPr>
          <p:cNvPr id="11" name="14 Elipse"/>
          <p:cNvSpPr/>
          <p:nvPr/>
        </p:nvSpPr>
        <p:spPr>
          <a:xfrm>
            <a:off x="1022344" y="5110213"/>
            <a:ext cx="288000" cy="288000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2" name="15 Elipse"/>
          <p:cNvSpPr/>
          <p:nvPr/>
        </p:nvSpPr>
        <p:spPr>
          <a:xfrm>
            <a:off x="2534512" y="5098239"/>
            <a:ext cx="288000" cy="288000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3" name="16 Elipse"/>
          <p:cNvSpPr/>
          <p:nvPr/>
        </p:nvSpPr>
        <p:spPr>
          <a:xfrm>
            <a:off x="5823347" y="5110213"/>
            <a:ext cx="288000" cy="288000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4" name="17 Elipse"/>
          <p:cNvSpPr/>
          <p:nvPr/>
        </p:nvSpPr>
        <p:spPr>
          <a:xfrm>
            <a:off x="4046680" y="5110213"/>
            <a:ext cx="288000" cy="288000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5" name="18 Elipse"/>
          <p:cNvSpPr/>
          <p:nvPr/>
        </p:nvSpPr>
        <p:spPr>
          <a:xfrm>
            <a:off x="7596368" y="5110213"/>
            <a:ext cx="288000" cy="288000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6" name="19 Flecha izquierda"/>
          <p:cNvSpPr/>
          <p:nvPr/>
        </p:nvSpPr>
        <p:spPr>
          <a:xfrm>
            <a:off x="2296026" y="6087589"/>
            <a:ext cx="4774124" cy="525011"/>
          </a:xfrm>
          <a:prstGeom prst="leftArrow">
            <a:avLst>
              <a:gd name="adj1" fmla="val 50000"/>
              <a:gd name="adj2" fmla="val 84071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s-PE"/>
          </a:p>
        </p:txBody>
      </p:sp>
      <p:sp>
        <p:nvSpPr>
          <p:cNvPr id="17" name="20 Cuadro de texto"/>
          <p:cNvSpPr txBox="1"/>
          <p:nvPr/>
        </p:nvSpPr>
        <p:spPr>
          <a:xfrm>
            <a:off x="3739377" y="6180549"/>
            <a:ext cx="1696720" cy="300734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s-PE" sz="1600" b="1" dirty="0">
                <a:solidFill>
                  <a:srgbClr val="3333FF"/>
                </a:solidFill>
                <a:effectLst/>
                <a:latin typeface="Century Gothic"/>
                <a:ea typeface="Calibri"/>
                <a:cs typeface="Times New Roman"/>
              </a:rPr>
              <a:t>Efectividad</a:t>
            </a:r>
            <a:endParaRPr lang="es-PE" sz="3200" dirty="0">
              <a:effectLst/>
              <a:ea typeface="Calibri"/>
              <a:cs typeface="Times New Roman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1956" y="1585628"/>
            <a:ext cx="1186208" cy="1181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>
          <a:blip r:embed="rId4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45164" y="1710027"/>
            <a:ext cx="1381668" cy="103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6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044" y="3563260"/>
            <a:ext cx="1334747" cy="1312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" name="Picture 6"/>
          <p:cNvPicPr>
            <a:picLocks noChangeAspect="1" noChangeArrowheads="1"/>
          </p:cNvPicPr>
          <p:nvPr/>
        </p:nvPicPr>
        <p:blipFill>
          <a:blip r:embed="rId8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126230" y="3571239"/>
            <a:ext cx="1225304" cy="1282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8"/>
          <p:cNvPicPr>
            <a:picLocks noChangeAspect="1" noChangeArrowheads="1"/>
          </p:cNvPicPr>
          <p:nvPr/>
        </p:nvPicPr>
        <p:blipFill>
          <a:blip r:embed="rId10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3914" y="3612703"/>
            <a:ext cx="1308620" cy="124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9"/>
          <p:cNvPicPr>
            <a:picLocks noChangeAspect="1" noChangeArrowheads="1"/>
          </p:cNvPicPr>
          <p:nvPr/>
        </p:nvPicPr>
        <p:blipFill>
          <a:blip r:embed="rId12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145566" y="3662817"/>
            <a:ext cx="1658684" cy="9984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23 Grupo"/>
          <p:cNvGrpSpPr/>
          <p:nvPr/>
        </p:nvGrpSpPr>
        <p:grpSpPr>
          <a:xfrm>
            <a:off x="7104875" y="3612706"/>
            <a:ext cx="1571584" cy="1168945"/>
            <a:chOff x="7104871" y="3140644"/>
            <a:chExt cx="1571585" cy="1168945"/>
          </a:xfrm>
        </p:grpSpPr>
        <p:pic>
          <p:nvPicPr>
            <p:cNvPr id="25" name="Picture 11"/>
            <p:cNvPicPr>
              <a:picLocks noChangeAspect="1" noChangeArrowheads="1"/>
            </p:cNvPicPr>
            <p:nvPr/>
          </p:nvPicPr>
          <p:blipFill>
            <a:blip r:embed="rId14" cstate="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4871" y="3140644"/>
              <a:ext cx="1214043" cy="115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8"/>
            <p:cNvPicPr>
              <a:picLocks noChangeAspect="1" noChangeArrowheads="1"/>
            </p:cNvPicPr>
            <p:nvPr/>
          </p:nvPicPr>
          <p:blipFill rotWithShape="1">
            <a:blip r:embed="rId10" cstate="print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4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74221" t="46468" r="3"/>
            <a:stretch/>
          </p:blipFill>
          <p:spPr bwMode="auto">
            <a:xfrm>
              <a:off x="8339144" y="3645024"/>
              <a:ext cx="337312" cy="664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6553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Niveles de control de riesgos</a:t>
            </a:r>
            <a:endParaRPr lang="es-PE" dirty="0"/>
          </a:p>
        </p:txBody>
      </p:sp>
      <p:pic>
        <p:nvPicPr>
          <p:cNvPr id="4" name="Picture 23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9" b="1693"/>
          <a:stretch/>
        </p:blipFill>
        <p:spPr bwMode="auto">
          <a:xfrm>
            <a:off x="801690" y="1864424"/>
            <a:ext cx="7442718" cy="437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heurón 2"/>
          <p:cNvSpPr/>
          <p:nvPr/>
        </p:nvSpPr>
        <p:spPr>
          <a:xfrm>
            <a:off x="1979712" y="4221858"/>
            <a:ext cx="539751" cy="71913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>
              <a:solidFill>
                <a:schemeClr val="tx1"/>
              </a:solidFill>
            </a:endParaRPr>
          </a:p>
        </p:txBody>
      </p:sp>
      <p:sp>
        <p:nvSpPr>
          <p:cNvPr id="6" name="Cheurón 7"/>
          <p:cNvSpPr/>
          <p:nvPr/>
        </p:nvSpPr>
        <p:spPr>
          <a:xfrm>
            <a:off x="3529014" y="4221858"/>
            <a:ext cx="538163" cy="71913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>
              <a:solidFill>
                <a:schemeClr val="tx1"/>
              </a:solidFill>
            </a:endParaRPr>
          </a:p>
        </p:txBody>
      </p:sp>
      <p:sp>
        <p:nvSpPr>
          <p:cNvPr id="7" name="Cheurón 8"/>
          <p:cNvSpPr/>
          <p:nvPr/>
        </p:nvSpPr>
        <p:spPr>
          <a:xfrm>
            <a:off x="5040316" y="4221858"/>
            <a:ext cx="539751" cy="71913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>
              <a:solidFill>
                <a:schemeClr val="tx1"/>
              </a:solidFill>
            </a:endParaRPr>
          </a:p>
        </p:txBody>
      </p:sp>
      <p:sp>
        <p:nvSpPr>
          <p:cNvPr id="8" name="Cheurón 9"/>
          <p:cNvSpPr/>
          <p:nvPr/>
        </p:nvSpPr>
        <p:spPr>
          <a:xfrm>
            <a:off x="6443665" y="4221858"/>
            <a:ext cx="539751" cy="719138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PE">
              <a:solidFill>
                <a:schemeClr val="tx1"/>
              </a:solidFill>
            </a:endParaRPr>
          </a:p>
        </p:txBody>
      </p:sp>
      <p:sp>
        <p:nvSpPr>
          <p:cNvPr id="9" name="CuadroTexto 10"/>
          <p:cNvSpPr txBox="1"/>
          <p:nvPr/>
        </p:nvSpPr>
        <p:spPr>
          <a:xfrm>
            <a:off x="1835151" y="2564904"/>
            <a:ext cx="4318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P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10" name="CuadroTexto 11"/>
          <p:cNvSpPr txBox="1"/>
          <p:nvPr/>
        </p:nvSpPr>
        <p:spPr>
          <a:xfrm>
            <a:off x="3346524" y="2564904"/>
            <a:ext cx="433388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P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1" name="CuadroTexto 12"/>
          <p:cNvSpPr txBox="1"/>
          <p:nvPr/>
        </p:nvSpPr>
        <p:spPr>
          <a:xfrm>
            <a:off x="4860280" y="2564904"/>
            <a:ext cx="4318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P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2" name="CuadroTexto 13"/>
          <p:cNvSpPr txBox="1"/>
          <p:nvPr/>
        </p:nvSpPr>
        <p:spPr>
          <a:xfrm>
            <a:off x="6372174" y="2564904"/>
            <a:ext cx="4318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P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3" name="CuadroTexto 14"/>
          <p:cNvSpPr txBox="1"/>
          <p:nvPr/>
        </p:nvSpPr>
        <p:spPr>
          <a:xfrm>
            <a:off x="7740352" y="2564904"/>
            <a:ext cx="431800" cy="7078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s-PE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729682" y="1772816"/>
            <a:ext cx="7586734" cy="453650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6433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Niveles de control de riesgos</a:t>
            </a: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539552" y="1700808"/>
          <a:ext cx="8208912" cy="46115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9972"/>
                <a:gridCol w="1594962"/>
                <a:gridCol w="5453978"/>
              </a:tblGrid>
              <a:tr h="530069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Jerarquía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Medida</a:t>
                      </a:r>
                      <a:r>
                        <a:rPr lang="es-PE" sz="1600" baseline="0" dirty="0" smtClean="0"/>
                        <a:t> de control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Detalle </a:t>
                      </a:r>
                      <a:endParaRPr lang="es-PE" sz="1600" dirty="0"/>
                    </a:p>
                  </a:txBody>
                  <a:tcPr anchor="ctr"/>
                </a:tc>
              </a:tr>
              <a:tr h="307103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1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600" dirty="0" smtClean="0"/>
                        <a:t>Eliminación 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PE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Eliminar el riesgo removiendo el peligro</a:t>
                      </a:r>
                      <a:endParaRPr lang="es-PE" sz="1600" dirty="0"/>
                    </a:p>
                  </a:txBody>
                  <a:tcPr/>
                </a:tc>
              </a:tr>
              <a:tr h="530069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2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600" dirty="0" smtClean="0"/>
                        <a:t>Sustitución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PE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Sustituir materiales, equipos, procesos o substancias peligrosos por otros menos peligrosos.</a:t>
                      </a:r>
                      <a:endParaRPr lang="es-PE" sz="1600" dirty="0"/>
                    </a:p>
                  </a:txBody>
                  <a:tcPr/>
                </a:tc>
              </a:tr>
              <a:tr h="757241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3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600" dirty="0" smtClean="0"/>
                        <a:t>Control de ingeniería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PE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Realizar cambios estructurales en el ambiente de trabajo, sistemas de trabajo, herramientas o equipos con el fin de que sean más seguros.</a:t>
                      </a:r>
                      <a:endParaRPr lang="es-PE" sz="1600" dirty="0"/>
                    </a:p>
                  </a:txBody>
                  <a:tcPr/>
                </a:tc>
              </a:tr>
              <a:tr h="1211585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4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600" dirty="0" smtClean="0"/>
                        <a:t>Control administrativo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PE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Establecer procedimientos administrativos apropiados tales como políticas, lineamientos, procedimientos operativos estandarizados, registros, permisos de trabajo, señalización, rotación laboral, turnos de trabajo, mantenimientos de rutina, capacitación, orden y limpieza.</a:t>
                      </a:r>
                      <a:endParaRPr lang="es-PE" sz="1600" dirty="0"/>
                    </a:p>
                  </a:txBody>
                  <a:tcPr/>
                </a:tc>
              </a:tr>
              <a:tr h="984413">
                <a:tc>
                  <a:txBody>
                    <a:bodyPr/>
                    <a:lstStyle/>
                    <a:p>
                      <a:pPr algn="ctr"/>
                      <a:r>
                        <a:rPr lang="es-PE" sz="1600" dirty="0" smtClean="0"/>
                        <a:t>5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PE" sz="1600" dirty="0" smtClean="0"/>
                        <a:t>EPP</a:t>
                      </a:r>
                      <a:endParaRPr lang="es-P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PE" sz="160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Proveer el equipo de protección personal (EPP) en las tallas adecuadas y en buenas condiciones, y/o la vestimenta de protección así como la capacitación en su uso.</a:t>
                      </a:r>
                      <a:endParaRPr lang="es-PE" sz="16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2779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rmedio">
  <a:themeElements>
    <a:clrScheme name="Intermedi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ntermedi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rmedi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3673</TotalTime>
  <Words>1073</Words>
  <Application>Microsoft Office PowerPoint</Application>
  <PresentationFormat>Presentación en pantalla (4:3)</PresentationFormat>
  <Paragraphs>201</Paragraphs>
  <Slides>28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7" baseType="lpstr">
      <vt:lpstr>Arial</vt:lpstr>
      <vt:lpstr>Calibri</vt:lpstr>
      <vt:lpstr>Century Gothic</vt:lpstr>
      <vt:lpstr>Times New Roman</vt:lpstr>
      <vt:lpstr>Tw Cen MT</vt:lpstr>
      <vt:lpstr>Wingdings</vt:lpstr>
      <vt:lpstr>Wingdings 2</vt:lpstr>
      <vt:lpstr>Intermedio</vt:lpstr>
      <vt:lpstr>CorelDRAW 6.0</vt:lpstr>
      <vt:lpstr>IDENTIFICACIÓN DE PELIGROS, EVALUACIÓN  Y CONTROL DE RIESGOS </vt:lpstr>
      <vt:lpstr>Presentación de PowerPoint</vt:lpstr>
      <vt:lpstr>Peligro y riesgo</vt:lpstr>
      <vt:lpstr>Ejemplo de peligro</vt:lpstr>
      <vt:lpstr>Ejemplo de riesgo</vt:lpstr>
      <vt:lpstr>Peligro y riesgo</vt:lpstr>
      <vt:lpstr>IPERC</vt:lpstr>
      <vt:lpstr>IPERC</vt:lpstr>
      <vt:lpstr>Presentación de PowerPoint</vt:lpstr>
      <vt:lpstr>Tipos de peligro</vt:lpstr>
      <vt:lpstr>Tipos de peligro</vt:lpstr>
      <vt:lpstr>Tipos de peligro</vt:lpstr>
      <vt:lpstr>Tipos de peligro</vt:lpstr>
      <vt:lpstr>Tipos de peligro</vt:lpstr>
      <vt:lpstr>Tipos de peligro</vt:lpstr>
      <vt:lpstr>Tipos de peligro</vt:lpstr>
      <vt:lpstr>Tipos de peligro</vt:lpstr>
      <vt:lpstr>Presentación de PowerPoint</vt:lpstr>
      <vt:lpstr>Evaluación de riesgos</vt:lpstr>
      <vt:lpstr>Evaluación de riesgos</vt:lpstr>
      <vt:lpstr>Evaluación de riesgos</vt:lpstr>
      <vt:lpstr>Evaluación de riesgos</vt:lpstr>
      <vt:lpstr>Evaluación de riesgos</vt:lpstr>
      <vt:lpstr>Presentación de PowerPoint</vt:lpstr>
      <vt:lpstr>Control del riesgo</vt:lpstr>
      <vt:lpstr>Niveles de control de riesgo</vt:lpstr>
      <vt:lpstr>Niveles de control de riesgos</vt:lpstr>
      <vt:lpstr>Niveles de control de riesgos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Cuenta Microsoft</cp:lastModifiedBy>
  <cp:revision>52</cp:revision>
  <cp:lastPrinted>2016-05-21T21:35:57Z</cp:lastPrinted>
  <dcterms:created xsi:type="dcterms:W3CDTF">2016-05-20T14:02:21Z</dcterms:created>
  <dcterms:modified xsi:type="dcterms:W3CDTF">2022-01-17T20:54:49Z</dcterms:modified>
</cp:coreProperties>
</file>